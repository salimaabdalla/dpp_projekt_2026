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0A0"/>
    <a:srgbClr val="6D5050"/>
    <a:srgbClr val="662C2C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6" autoAdjust="0"/>
    <p:restoredTop sz="94660"/>
  </p:normalViewPr>
  <p:slideViewPr>
    <p:cSldViewPr snapToGrid="0">
      <p:cViewPr varScale="1">
        <p:scale>
          <a:sx n="70" d="100"/>
          <a:sy n="70" d="100"/>
        </p:scale>
        <p:origin x="941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ADD0A6-BC7A-43EF-8E9C-4BCC80DCFB25}" type="doc">
      <dgm:prSet loTypeId="urn:microsoft.com/office/officeart/2005/8/layout/radial6" loCatId="relationship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de-DE"/>
        </a:p>
      </dgm:t>
    </dgm:pt>
    <dgm:pt modelId="{9189A52D-EEBA-453D-89E0-6C088212FAA4}">
      <dgm:prSet phldrT="[Text]" phldr="0" custT="1"/>
      <dgm:spPr/>
      <dgm:t>
        <a:bodyPr/>
        <a:lstStyle/>
        <a:p>
          <a:r>
            <a:rPr lang="de-DE" sz="2400" b="0" dirty="0"/>
            <a:t>Preiselastizität</a:t>
          </a:r>
        </a:p>
      </dgm:t>
    </dgm:pt>
    <dgm:pt modelId="{3126E8B0-2CCA-4171-886A-F4FAC3276B3F}" type="parTrans" cxnId="{05A35431-E785-4709-9AF8-6273C9CF9CEF}">
      <dgm:prSet/>
      <dgm:spPr/>
      <dgm:t>
        <a:bodyPr/>
        <a:lstStyle/>
        <a:p>
          <a:endParaRPr lang="de-DE"/>
        </a:p>
      </dgm:t>
    </dgm:pt>
    <dgm:pt modelId="{52357013-F6F0-41F7-82A8-80F473899623}" type="sibTrans" cxnId="{05A35431-E785-4709-9AF8-6273C9CF9CEF}">
      <dgm:prSet/>
      <dgm:spPr/>
      <dgm:t>
        <a:bodyPr/>
        <a:lstStyle/>
        <a:p>
          <a:endParaRPr lang="de-DE"/>
        </a:p>
      </dgm:t>
    </dgm:pt>
    <dgm:pt modelId="{8593BA3F-C273-4AAC-944B-AE781351C4DD}">
      <dgm:prSet phldrT="[Text]" phldr="0" custT="1"/>
      <dgm:spPr/>
      <dgm:t>
        <a:bodyPr/>
        <a:lstStyle/>
        <a:p>
          <a:r>
            <a:rPr lang="de-DE" sz="1400" dirty="0"/>
            <a:t>Angebotspreise (</a:t>
          </a:r>
          <a:r>
            <a:rPr lang="de-DE" sz="1400" dirty="0" err="1"/>
            <a:t>Monatl</a:t>
          </a:r>
          <a:r>
            <a:rPr lang="de-DE" sz="1400" dirty="0"/>
            <a:t>. </a:t>
          </a:r>
          <a:r>
            <a:rPr lang="de-DE" sz="1400" dirty="0" err="1"/>
            <a:t>Prod.Erh</a:t>
          </a:r>
          <a:r>
            <a:rPr lang="de-DE" sz="1400" dirty="0"/>
            <a:t>.)</a:t>
          </a:r>
        </a:p>
      </dgm:t>
    </dgm:pt>
    <dgm:pt modelId="{90EAC7B1-28EE-440E-B7B8-DFDCF1CBB802}" type="parTrans" cxnId="{B491117F-DC29-4B1C-A29B-930624AA0F87}">
      <dgm:prSet/>
      <dgm:spPr/>
      <dgm:t>
        <a:bodyPr/>
        <a:lstStyle/>
        <a:p>
          <a:endParaRPr lang="de-DE"/>
        </a:p>
      </dgm:t>
    </dgm:pt>
    <dgm:pt modelId="{38448290-E4EC-4777-B529-EA0FCA8670B5}" type="sibTrans" cxnId="{B491117F-DC29-4B1C-A29B-930624AA0F87}">
      <dgm:prSet/>
      <dgm:spPr/>
      <dgm:t>
        <a:bodyPr/>
        <a:lstStyle/>
        <a:p>
          <a:endParaRPr lang="de-DE"/>
        </a:p>
      </dgm:t>
    </dgm:pt>
    <dgm:pt modelId="{51A9AC7B-FCE9-4972-BEAC-E6E1561CA0EF}">
      <dgm:prSet phldrT="[Text]" phldr="0" custT="1"/>
      <dgm:spPr/>
      <dgm:t>
        <a:bodyPr/>
        <a:lstStyle/>
        <a:p>
          <a:r>
            <a:rPr lang="de-DE" sz="1400" dirty="0"/>
            <a:t>Nachgefragte Menge (Monatsbericht)</a:t>
          </a:r>
        </a:p>
      </dgm:t>
    </dgm:pt>
    <dgm:pt modelId="{7E57F6B6-86CE-438D-B337-06441FEB25D1}" type="parTrans" cxnId="{CA346300-8A6D-4471-992D-6A9A63BC9F3E}">
      <dgm:prSet/>
      <dgm:spPr/>
      <dgm:t>
        <a:bodyPr/>
        <a:lstStyle/>
        <a:p>
          <a:endParaRPr lang="de-DE"/>
        </a:p>
      </dgm:t>
    </dgm:pt>
    <dgm:pt modelId="{0EAFDB6D-6238-493B-9C37-E1F700DE04C8}" type="sibTrans" cxnId="{CA346300-8A6D-4471-992D-6A9A63BC9F3E}">
      <dgm:prSet/>
      <dgm:spPr/>
      <dgm:t>
        <a:bodyPr/>
        <a:lstStyle/>
        <a:p>
          <a:endParaRPr lang="de-DE"/>
        </a:p>
      </dgm:t>
    </dgm:pt>
    <dgm:pt modelId="{89F13708-2FDF-429C-B4FC-7D244F626392}">
      <dgm:prSet phldrT="[Text]" phldr="0" custT="1"/>
      <dgm:spPr/>
      <dgm:t>
        <a:bodyPr/>
        <a:lstStyle/>
        <a:p>
          <a:r>
            <a:rPr lang="de-DE" sz="1400" dirty="0"/>
            <a:t>Erzeugerpreise Schokolade</a:t>
          </a:r>
        </a:p>
      </dgm:t>
    </dgm:pt>
    <dgm:pt modelId="{DE83F28A-DA72-451C-8E9B-435F84965105}" type="parTrans" cxnId="{E49F21FF-F88A-41A8-9A9E-3ED406D21FD8}">
      <dgm:prSet/>
      <dgm:spPr/>
      <dgm:t>
        <a:bodyPr/>
        <a:lstStyle/>
        <a:p>
          <a:endParaRPr lang="de-DE"/>
        </a:p>
      </dgm:t>
    </dgm:pt>
    <dgm:pt modelId="{EBC3442F-7959-44C2-8236-A4A796866360}" type="sibTrans" cxnId="{E49F21FF-F88A-41A8-9A9E-3ED406D21FD8}">
      <dgm:prSet/>
      <dgm:spPr/>
      <dgm:t>
        <a:bodyPr/>
        <a:lstStyle/>
        <a:p>
          <a:endParaRPr lang="de-DE"/>
        </a:p>
      </dgm:t>
    </dgm:pt>
    <dgm:pt modelId="{24C68214-C91C-4E48-98DD-5E5A82706A0C}">
      <dgm:prSet phldrT="[Text]" phldr="0" custT="1"/>
      <dgm:spPr/>
      <dgm:t>
        <a:bodyPr/>
        <a:lstStyle/>
        <a:p>
          <a:r>
            <a:rPr lang="de-DE" sz="1400" dirty="0"/>
            <a:t>Einfuhrpreise Schokolade</a:t>
          </a:r>
        </a:p>
      </dgm:t>
    </dgm:pt>
    <dgm:pt modelId="{6E114170-53DC-4D3D-A768-D3922D07EAA2}" type="parTrans" cxnId="{7D5F64EC-B4DC-4617-8CC5-EA9CC2F93FA2}">
      <dgm:prSet/>
      <dgm:spPr/>
      <dgm:t>
        <a:bodyPr/>
        <a:lstStyle/>
        <a:p>
          <a:endParaRPr lang="de-DE"/>
        </a:p>
      </dgm:t>
    </dgm:pt>
    <dgm:pt modelId="{2BD83ECF-30D7-43A5-8B4A-6173CAAE1870}" type="sibTrans" cxnId="{7D5F64EC-B4DC-4617-8CC5-EA9CC2F93FA2}">
      <dgm:prSet/>
      <dgm:spPr/>
      <dgm:t>
        <a:bodyPr/>
        <a:lstStyle/>
        <a:p>
          <a:endParaRPr lang="de-DE"/>
        </a:p>
      </dgm:t>
    </dgm:pt>
    <dgm:pt modelId="{74AC8F7A-6C57-4A63-A300-D5025870743F}">
      <dgm:prSet phldrT="[Text]" phldr="0" custT="1"/>
      <dgm:spPr/>
      <dgm:t>
        <a:bodyPr/>
        <a:lstStyle/>
        <a:p>
          <a:r>
            <a:rPr lang="de-DE" sz="1400" dirty="0"/>
            <a:t>Haushaltsnachfrage VPI Schokolade</a:t>
          </a:r>
        </a:p>
      </dgm:t>
    </dgm:pt>
    <dgm:pt modelId="{7252A0BA-282E-44F7-96AC-C33F8E07B0A4}" type="parTrans" cxnId="{F878020A-3B6D-46CA-BD2E-42DA8E1D9BE7}">
      <dgm:prSet/>
      <dgm:spPr/>
      <dgm:t>
        <a:bodyPr/>
        <a:lstStyle/>
        <a:p>
          <a:endParaRPr lang="de-DE"/>
        </a:p>
      </dgm:t>
    </dgm:pt>
    <dgm:pt modelId="{9419D3BE-41C8-4101-8F9E-8B95DC2D12AC}" type="sibTrans" cxnId="{F878020A-3B6D-46CA-BD2E-42DA8E1D9BE7}">
      <dgm:prSet/>
      <dgm:spPr/>
      <dgm:t>
        <a:bodyPr/>
        <a:lstStyle/>
        <a:p>
          <a:endParaRPr lang="de-DE"/>
        </a:p>
      </dgm:t>
    </dgm:pt>
    <dgm:pt modelId="{3A82027D-3368-4C6C-AFB1-FFDB83452C8E}">
      <dgm:prSet phldrT="[Text]" phldr="0" custT="1"/>
      <dgm:spPr/>
      <dgm:t>
        <a:bodyPr/>
        <a:lstStyle/>
        <a:p>
          <a:r>
            <a:rPr lang="de-DE" sz="1400" dirty="0"/>
            <a:t>Kakao Futures</a:t>
          </a:r>
        </a:p>
      </dgm:t>
    </dgm:pt>
    <dgm:pt modelId="{7D17A04C-FA2B-466C-ABD4-0592745253C4}" type="parTrans" cxnId="{9305F98E-1E79-43EF-856D-9826A7061767}">
      <dgm:prSet/>
      <dgm:spPr/>
      <dgm:t>
        <a:bodyPr/>
        <a:lstStyle/>
        <a:p>
          <a:endParaRPr lang="de-DE"/>
        </a:p>
      </dgm:t>
    </dgm:pt>
    <dgm:pt modelId="{EC9757D5-A912-4CD7-8300-BDCBC627C6CC}" type="sibTrans" cxnId="{9305F98E-1E79-43EF-856D-9826A7061767}">
      <dgm:prSet/>
      <dgm:spPr/>
      <dgm:t>
        <a:bodyPr/>
        <a:lstStyle/>
        <a:p>
          <a:endParaRPr lang="de-DE"/>
        </a:p>
      </dgm:t>
    </dgm:pt>
    <dgm:pt modelId="{F6771BA9-5991-4A94-851E-C1F9D205F1B3}">
      <dgm:prSet phldrT="[Text]" phldr="0" custT="1"/>
      <dgm:spPr/>
      <dgm:t>
        <a:bodyPr/>
        <a:lstStyle/>
        <a:p>
          <a:r>
            <a:rPr lang="de-DE" sz="1400" dirty="0"/>
            <a:t>Kaffee Futures</a:t>
          </a:r>
        </a:p>
      </dgm:t>
    </dgm:pt>
    <dgm:pt modelId="{27912CD7-5878-41C9-96B6-8B92F6585A2A}" type="parTrans" cxnId="{B26365BE-C0C6-4C73-B71F-B4E075B430F9}">
      <dgm:prSet/>
      <dgm:spPr/>
      <dgm:t>
        <a:bodyPr/>
        <a:lstStyle/>
        <a:p>
          <a:endParaRPr lang="de-DE"/>
        </a:p>
      </dgm:t>
    </dgm:pt>
    <dgm:pt modelId="{71856E6A-7AC8-4BC5-A34C-FFBFEAD91A9F}" type="sibTrans" cxnId="{B26365BE-C0C6-4C73-B71F-B4E075B430F9}">
      <dgm:prSet/>
      <dgm:spPr/>
      <dgm:t>
        <a:bodyPr/>
        <a:lstStyle/>
        <a:p>
          <a:endParaRPr lang="de-DE"/>
        </a:p>
      </dgm:t>
    </dgm:pt>
    <dgm:pt modelId="{BCBCD600-430C-4311-B6AA-7CD00AF363CD}">
      <dgm:prSet phldrT="[Text]" phldr="0" custT="1"/>
      <dgm:spPr/>
      <dgm:t>
        <a:bodyPr/>
        <a:lstStyle/>
        <a:p>
          <a:r>
            <a:rPr lang="de-DE" sz="1400" dirty="0" err="1"/>
            <a:t>Mondelezaktie</a:t>
          </a:r>
          <a:endParaRPr lang="de-DE" sz="1400" dirty="0"/>
        </a:p>
      </dgm:t>
    </dgm:pt>
    <dgm:pt modelId="{ED1E7586-63C2-45E1-91C7-CD5A4DE7FBE4}" type="parTrans" cxnId="{D648BFC8-E1F2-454A-BE7A-8E8FB82D8042}">
      <dgm:prSet/>
      <dgm:spPr/>
      <dgm:t>
        <a:bodyPr/>
        <a:lstStyle/>
        <a:p>
          <a:endParaRPr lang="de-DE"/>
        </a:p>
      </dgm:t>
    </dgm:pt>
    <dgm:pt modelId="{C5662E2F-06D8-4244-86D8-99FACF5F322F}" type="sibTrans" cxnId="{D648BFC8-E1F2-454A-BE7A-8E8FB82D8042}">
      <dgm:prSet/>
      <dgm:spPr/>
      <dgm:t>
        <a:bodyPr/>
        <a:lstStyle/>
        <a:p>
          <a:endParaRPr lang="de-DE"/>
        </a:p>
      </dgm:t>
    </dgm:pt>
    <dgm:pt modelId="{43D358A8-74A2-44F7-BDFA-A532360CD9E0}">
      <dgm:prSet phldrT="[Text]" phldr="0" custT="1"/>
      <dgm:spPr/>
      <dgm:t>
        <a:bodyPr/>
        <a:lstStyle/>
        <a:p>
          <a:r>
            <a:rPr lang="de-DE" sz="1400"/>
            <a:t>Ferreroaktie</a:t>
          </a:r>
          <a:endParaRPr lang="de-DE" sz="1400" dirty="0"/>
        </a:p>
      </dgm:t>
    </dgm:pt>
    <dgm:pt modelId="{E9EEF493-7CD2-4105-9813-3DB244F05A60}" type="parTrans" cxnId="{323AFE7A-C296-430F-8888-3CF111FF01AE}">
      <dgm:prSet/>
      <dgm:spPr/>
      <dgm:t>
        <a:bodyPr/>
        <a:lstStyle/>
        <a:p>
          <a:endParaRPr lang="de-DE"/>
        </a:p>
      </dgm:t>
    </dgm:pt>
    <dgm:pt modelId="{D607FD8E-FAA0-4DB6-95C9-C4C93F480FB9}" type="sibTrans" cxnId="{323AFE7A-C296-430F-8888-3CF111FF01AE}">
      <dgm:prSet/>
      <dgm:spPr/>
      <dgm:t>
        <a:bodyPr/>
        <a:lstStyle/>
        <a:p>
          <a:endParaRPr lang="de-DE"/>
        </a:p>
      </dgm:t>
    </dgm:pt>
    <dgm:pt modelId="{E296EAB9-EE79-4294-9C01-2793CE67D6E9}">
      <dgm:prSet phldrT="[Text]" phldr="0" custT="1"/>
      <dgm:spPr/>
      <dgm:t>
        <a:bodyPr/>
        <a:lstStyle/>
        <a:p>
          <a:r>
            <a:rPr lang="de-DE" sz="1400" dirty="0" err="1"/>
            <a:t>LindtSprüngli</a:t>
          </a:r>
          <a:r>
            <a:rPr lang="de-DE" sz="1400" dirty="0"/>
            <a:t> „Aktie“</a:t>
          </a:r>
          <a:endParaRPr lang="de-DE" sz="900" dirty="0"/>
        </a:p>
      </dgm:t>
    </dgm:pt>
    <dgm:pt modelId="{FAB7921A-B73A-4974-AE69-7D467A532364}" type="parTrans" cxnId="{400072BC-2E3D-47F8-8319-E22A313A0F7B}">
      <dgm:prSet/>
      <dgm:spPr/>
      <dgm:t>
        <a:bodyPr/>
        <a:lstStyle/>
        <a:p>
          <a:endParaRPr lang="de-DE"/>
        </a:p>
      </dgm:t>
    </dgm:pt>
    <dgm:pt modelId="{EA140679-F36C-4BF1-8EE0-7D6B9B5A6B1A}" type="sibTrans" cxnId="{400072BC-2E3D-47F8-8319-E22A313A0F7B}">
      <dgm:prSet/>
      <dgm:spPr/>
      <dgm:t>
        <a:bodyPr/>
        <a:lstStyle/>
        <a:p>
          <a:endParaRPr lang="de-DE"/>
        </a:p>
      </dgm:t>
    </dgm:pt>
    <dgm:pt modelId="{666DCE42-DFC1-4F39-A360-1905CB206636}" type="pres">
      <dgm:prSet presAssocID="{13ADD0A6-BC7A-43EF-8E9C-4BCC80DCFB2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4B68798-C054-485D-AF2D-02AFFC3F9FB4}" type="pres">
      <dgm:prSet presAssocID="{9189A52D-EEBA-453D-89E0-6C088212FAA4}" presName="centerShape" presStyleLbl="node0" presStyleIdx="0" presStyleCnt="1" custScaleX="170027" custScaleY="159256"/>
      <dgm:spPr/>
    </dgm:pt>
    <dgm:pt modelId="{3DBB7F11-FCEA-4386-A9D3-55CAE7E170D1}" type="pres">
      <dgm:prSet presAssocID="{8593BA3F-C273-4AAC-944B-AE781351C4DD}" presName="node" presStyleLbl="node1" presStyleIdx="0" presStyleCnt="10" custScaleX="165294" custScaleY="103663">
        <dgm:presLayoutVars>
          <dgm:bulletEnabled val="1"/>
        </dgm:presLayoutVars>
      </dgm:prSet>
      <dgm:spPr/>
    </dgm:pt>
    <dgm:pt modelId="{747F9374-52DF-44DF-B523-E6B5B56542BE}" type="pres">
      <dgm:prSet presAssocID="{8593BA3F-C273-4AAC-944B-AE781351C4DD}" presName="dummy" presStyleCnt="0"/>
      <dgm:spPr/>
    </dgm:pt>
    <dgm:pt modelId="{24F648E4-6FA1-4565-BE2C-9B6C87816814}" type="pres">
      <dgm:prSet presAssocID="{38448290-E4EC-4777-B529-EA0FCA8670B5}" presName="sibTrans" presStyleLbl="sibTrans2D1" presStyleIdx="0" presStyleCnt="10"/>
      <dgm:spPr/>
    </dgm:pt>
    <dgm:pt modelId="{4BA0F6F2-ADF5-483A-A561-E881FE1F5D72}" type="pres">
      <dgm:prSet presAssocID="{51A9AC7B-FCE9-4972-BEAC-E6E1561CA0EF}" presName="node" presStyleLbl="node1" presStyleIdx="1" presStyleCnt="10" custScaleX="165294" custScaleY="103663" custRadScaleRad="103458" custRadScaleInc="48508">
        <dgm:presLayoutVars>
          <dgm:bulletEnabled val="1"/>
        </dgm:presLayoutVars>
      </dgm:prSet>
      <dgm:spPr/>
    </dgm:pt>
    <dgm:pt modelId="{A9A36508-048C-4222-88F3-4F40B978DF9C}" type="pres">
      <dgm:prSet presAssocID="{51A9AC7B-FCE9-4972-BEAC-E6E1561CA0EF}" presName="dummy" presStyleCnt="0"/>
      <dgm:spPr/>
    </dgm:pt>
    <dgm:pt modelId="{D57B940D-68F5-40FF-970F-19E9AE671C70}" type="pres">
      <dgm:prSet presAssocID="{0EAFDB6D-6238-493B-9C37-E1F700DE04C8}" presName="sibTrans" presStyleLbl="sibTrans2D1" presStyleIdx="1" presStyleCnt="10"/>
      <dgm:spPr/>
    </dgm:pt>
    <dgm:pt modelId="{E9984FAA-34C7-480F-90DF-3ADE45126465}" type="pres">
      <dgm:prSet presAssocID="{89F13708-2FDF-429C-B4FC-7D244F626392}" presName="node" presStyleLbl="node1" presStyleIdx="2" presStyleCnt="10" custScaleX="165294" custScaleY="103663">
        <dgm:presLayoutVars>
          <dgm:bulletEnabled val="1"/>
        </dgm:presLayoutVars>
      </dgm:prSet>
      <dgm:spPr/>
    </dgm:pt>
    <dgm:pt modelId="{806E03F4-74E6-4467-9BC2-A916C1A00BF2}" type="pres">
      <dgm:prSet presAssocID="{89F13708-2FDF-429C-B4FC-7D244F626392}" presName="dummy" presStyleCnt="0"/>
      <dgm:spPr/>
    </dgm:pt>
    <dgm:pt modelId="{19537169-84AC-45D8-9C63-67980B88063E}" type="pres">
      <dgm:prSet presAssocID="{EBC3442F-7959-44C2-8236-A4A796866360}" presName="sibTrans" presStyleLbl="sibTrans2D1" presStyleIdx="2" presStyleCnt="10"/>
      <dgm:spPr/>
    </dgm:pt>
    <dgm:pt modelId="{26D9CF0F-D0EB-4382-A73A-42BC43D74F1B}" type="pres">
      <dgm:prSet presAssocID="{24C68214-C91C-4E48-98DD-5E5A82706A0C}" presName="node" presStyleLbl="node1" presStyleIdx="3" presStyleCnt="10" custScaleX="165294" custScaleY="103663">
        <dgm:presLayoutVars>
          <dgm:bulletEnabled val="1"/>
        </dgm:presLayoutVars>
      </dgm:prSet>
      <dgm:spPr/>
    </dgm:pt>
    <dgm:pt modelId="{40F54D04-5886-4425-9D9B-8B319ADE2B38}" type="pres">
      <dgm:prSet presAssocID="{24C68214-C91C-4E48-98DD-5E5A82706A0C}" presName="dummy" presStyleCnt="0"/>
      <dgm:spPr/>
    </dgm:pt>
    <dgm:pt modelId="{98FBFBE3-655F-4BF6-B027-AA9C29315711}" type="pres">
      <dgm:prSet presAssocID="{2BD83ECF-30D7-43A5-8B4A-6173CAAE1870}" presName="sibTrans" presStyleLbl="sibTrans2D1" presStyleIdx="3" presStyleCnt="10"/>
      <dgm:spPr/>
    </dgm:pt>
    <dgm:pt modelId="{CCB7C157-5FBD-4DDE-BEBA-191047FE7675}" type="pres">
      <dgm:prSet presAssocID="{74AC8F7A-6C57-4A63-A300-D5025870743F}" presName="node" presStyleLbl="node1" presStyleIdx="4" presStyleCnt="10" custScaleX="165294" custScaleY="103663" custRadScaleRad="106121" custRadScaleInc="-51000">
        <dgm:presLayoutVars>
          <dgm:bulletEnabled val="1"/>
        </dgm:presLayoutVars>
      </dgm:prSet>
      <dgm:spPr/>
    </dgm:pt>
    <dgm:pt modelId="{7649DDC1-F35D-4AE4-AA85-5CBC977988B5}" type="pres">
      <dgm:prSet presAssocID="{74AC8F7A-6C57-4A63-A300-D5025870743F}" presName="dummy" presStyleCnt="0"/>
      <dgm:spPr/>
    </dgm:pt>
    <dgm:pt modelId="{1F354661-6C6A-4626-A871-2A74340398AE}" type="pres">
      <dgm:prSet presAssocID="{9419D3BE-41C8-4101-8F9E-8B95DC2D12AC}" presName="sibTrans" presStyleLbl="sibTrans2D1" presStyleIdx="4" presStyleCnt="10"/>
      <dgm:spPr/>
    </dgm:pt>
    <dgm:pt modelId="{6634CEF4-5FE3-4771-9584-814A161C8192}" type="pres">
      <dgm:prSet presAssocID="{3A82027D-3368-4C6C-AFB1-FFDB83452C8E}" presName="node" presStyleLbl="node1" presStyleIdx="5" presStyleCnt="10" custScaleX="165294" custScaleY="103663">
        <dgm:presLayoutVars>
          <dgm:bulletEnabled val="1"/>
        </dgm:presLayoutVars>
      </dgm:prSet>
      <dgm:spPr/>
    </dgm:pt>
    <dgm:pt modelId="{B4F18B3A-1045-44F8-B6AA-A4E17ADF0FFF}" type="pres">
      <dgm:prSet presAssocID="{3A82027D-3368-4C6C-AFB1-FFDB83452C8E}" presName="dummy" presStyleCnt="0"/>
      <dgm:spPr/>
    </dgm:pt>
    <dgm:pt modelId="{5542C350-0303-4D7C-9DAB-97B68E3AA305}" type="pres">
      <dgm:prSet presAssocID="{EC9757D5-A912-4CD7-8300-BDCBC627C6CC}" presName="sibTrans" presStyleLbl="sibTrans2D1" presStyleIdx="5" presStyleCnt="10"/>
      <dgm:spPr/>
    </dgm:pt>
    <dgm:pt modelId="{777913BC-8F85-4384-9E6B-F6FFB7346CB1}" type="pres">
      <dgm:prSet presAssocID="{F6771BA9-5991-4A94-851E-C1F9D205F1B3}" presName="node" presStyleLbl="node1" presStyleIdx="6" presStyleCnt="10" custScaleX="165294" custScaleY="103663" custRadScaleRad="103711" custRadScaleInc="38549">
        <dgm:presLayoutVars>
          <dgm:bulletEnabled val="1"/>
        </dgm:presLayoutVars>
      </dgm:prSet>
      <dgm:spPr/>
    </dgm:pt>
    <dgm:pt modelId="{F6005688-1982-4E66-80D0-DD8D2CCBD426}" type="pres">
      <dgm:prSet presAssocID="{F6771BA9-5991-4A94-851E-C1F9D205F1B3}" presName="dummy" presStyleCnt="0"/>
      <dgm:spPr/>
    </dgm:pt>
    <dgm:pt modelId="{D7B50608-AA5C-4898-8353-E2EF9F80313F}" type="pres">
      <dgm:prSet presAssocID="{71856E6A-7AC8-4BC5-A34C-FFBFEAD91A9F}" presName="sibTrans" presStyleLbl="sibTrans2D1" presStyleIdx="6" presStyleCnt="10" custLinFactNeighborX="2034" custLinFactNeighborY="1459"/>
      <dgm:spPr/>
    </dgm:pt>
    <dgm:pt modelId="{6CF17F77-E032-4A41-9F38-9FACA655950D}" type="pres">
      <dgm:prSet presAssocID="{BCBCD600-430C-4311-B6AA-7CD00AF363CD}" presName="node" presStyleLbl="node1" presStyleIdx="7" presStyleCnt="10" custScaleX="165294" custScaleY="103663">
        <dgm:presLayoutVars>
          <dgm:bulletEnabled val="1"/>
        </dgm:presLayoutVars>
      </dgm:prSet>
      <dgm:spPr/>
    </dgm:pt>
    <dgm:pt modelId="{4E316707-7A12-4349-BC43-0B9529AB5357}" type="pres">
      <dgm:prSet presAssocID="{BCBCD600-430C-4311-B6AA-7CD00AF363CD}" presName="dummy" presStyleCnt="0"/>
      <dgm:spPr/>
    </dgm:pt>
    <dgm:pt modelId="{666F2A60-23A4-453B-B1A7-CE0093C8875E}" type="pres">
      <dgm:prSet presAssocID="{C5662E2F-06D8-4244-86D8-99FACF5F322F}" presName="sibTrans" presStyleLbl="sibTrans2D1" presStyleIdx="7" presStyleCnt="10"/>
      <dgm:spPr/>
    </dgm:pt>
    <dgm:pt modelId="{F38BE074-8A94-4C03-8D0C-300B48429077}" type="pres">
      <dgm:prSet presAssocID="{43D358A8-74A2-44F7-BDFA-A532360CD9E0}" presName="node" presStyleLbl="node1" presStyleIdx="8" presStyleCnt="10" custScaleX="165294" custScaleY="103663">
        <dgm:presLayoutVars>
          <dgm:bulletEnabled val="1"/>
        </dgm:presLayoutVars>
      </dgm:prSet>
      <dgm:spPr/>
    </dgm:pt>
    <dgm:pt modelId="{A1584CEE-856B-4EF9-95E4-24A4FA8CE404}" type="pres">
      <dgm:prSet presAssocID="{43D358A8-74A2-44F7-BDFA-A532360CD9E0}" presName="dummy" presStyleCnt="0"/>
      <dgm:spPr/>
    </dgm:pt>
    <dgm:pt modelId="{B7F93218-3D6F-4EAE-8681-75D20120D096}" type="pres">
      <dgm:prSet presAssocID="{D607FD8E-FAA0-4DB6-95C9-C4C93F480FB9}" presName="sibTrans" presStyleLbl="sibTrans2D1" presStyleIdx="8" presStyleCnt="10"/>
      <dgm:spPr/>
    </dgm:pt>
    <dgm:pt modelId="{0792344A-7FE6-4EDC-A301-837CDFF0CF21}" type="pres">
      <dgm:prSet presAssocID="{E296EAB9-EE79-4294-9C01-2793CE67D6E9}" presName="node" presStyleLbl="node1" presStyleIdx="9" presStyleCnt="10" custScaleX="165294" custScaleY="103663" custRadScaleRad="99663" custRadScaleInc="-27676">
        <dgm:presLayoutVars>
          <dgm:bulletEnabled val="1"/>
        </dgm:presLayoutVars>
      </dgm:prSet>
      <dgm:spPr/>
    </dgm:pt>
    <dgm:pt modelId="{FF77B7DF-490B-4A07-81A2-A4E68CE21658}" type="pres">
      <dgm:prSet presAssocID="{E296EAB9-EE79-4294-9C01-2793CE67D6E9}" presName="dummy" presStyleCnt="0"/>
      <dgm:spPr/>
    </dgm:pt>
    <dgm:pt modelId="{BC68F289-6671-400F-BAA6-E7D272F56F02}" type="pres">
      <dgm:prSet presAssocID="{EA140679-F36C-4BF1-8EE0-7D6B9B5A6B1A}" presName="sibTrans" presStyleLbl="sibTrans2D1" presStyleIdx="9" presStyleCnt="10"/>
      <dgm:spPr/>
    </dgm:pt>
  </dgm:ptLst>
  <dgm:cxnLst>
    <dgm:cxn modelId="{CA346300-8A6D-4471-992D-6A9A63BC9F3E}" srcId="{9189A52D-EEBA-453D-89E0-6C088212FAA4}" destId="{51A9AC7B-FCE9-4972-BEAC-E6E1561CA0EF}" srcOrd="1" destOrd="0" parTransId="{7E57F6B6-86CE-438D-B337-06441FEB25D1}" sibTransId="{0EAFDB6D-6238-493B-9C37-E1F700DE04C8}"/>
    <dgm:cxn modelId="{2E82D404-9CF0-41FA-8E3F-9DEF44536219}" type="presOf" srcId="{E296EAB9-EE79-4294-9C01-2793CE67D6E9}" destId="{0792344A-7FE6-4EDC-A301-837CDFF0CF21}" srcOrd="0" destOrd="0" presId="urn:microsoft.com/office/officeart/2005/8/layout/radial6"/>
    <dgm:cxn modelId="{F878020A-3B6D-46CA-BD2E-42DA8E1D9BE7}" srcId="{9189A52D-EEBA-453D-89E0-6C088212FAA4}" destId="{74AC8F7A-6C57-4A63-A300-D5025870743F}" srcOrd="4" destOrd="0" parTransId="{7252A0BA-282E-44F7-96AC-C33F8E07B0A4}" sibTransId="{9419D3BE-41C8-4101-8F9E-8B95DC2D12AC}"/>
    <dgm:cxn modelId="{AC9F3512-65E3-43F6-8D18-7C35502927EF}" type="presOf" srcId="{EBC3442F-7959-44C2-8236-A4A796866360}" destId="{19537169-84AC-45D8-9C63-67980B88063E}" srcOrd="0" destOrd="0" presId="urn:microsoft.com/office/officeart/2005/8/layout/radial6"/>
    <dgm:cxn modelId="{05A35431-E785-4709-9AF8-6273C9CF9CEF}" srcId="{13ADD0A6-BC7A-43EF-8E9C-4BCC80DCFB25}" destId="{9189A52D-EEBA-453D-89E0-6C088212FAA4}" srcOrd="0" destOrd="0" parTransId="{3126E8B0-2CCA-4171-886A-F4FAC3276B3F}" sibTransId="{52357013-F6F0-41F7-82A8-80F473899623}"/>
    <dgm:cxn modelId="{73FA1E35-8064-405B-BC22-D7E6E24E4973}" type="presOf" srcId="{EC9757D5-A912-4CD7-8300-BDCBC627C6CC}" destId="{5542C350-0303-4D7C-9DAB-97B68E3AA305}" srcOrd="0" destOrd="0" presId="urn:microsoft.com/office/officeart/2005/8/layout/radial6"/>
    <dgm:cxn modelId="{CBB2413B-7531-44AD-93D8-E0A433CCD6FA}" type="presOf" srcId="{2BD83ECF-30D7-43A5-8B4A-6173CAAE1870}" destId="{98FBFBE3-655F-4BF6-B027-AA9C29315711}" srcOrd="0" destOrd="0" presId="urn:microsoft.com/office/officeart/2005/8/layout/radial6"/>
    <dgm:cxn modelId="{19648F5E-802A-4A7F-B8FA-0994FD3435C0}" type="presOf" srcId="{9419D3BE-41C8-4101-8F9E-8B95DC2D12AC}" destId="{1F354661-6C6A-4626-A871-2A74340398AE}" srcOrd="0" destOrd="0" presId="urn:microsoft.com/office/officeart/2005/8/layout/radial6"/>
    <dgm:cxn modelId="{4D547E60-2C01-4E6F-8753-08A6631CC403}" type="presOf" srcId="{43D358A8-74A2-44F7-BDFA-A532360CD9E0}" destId="{F38BE074-8A94-4C03-8D0C-300B48429077}" srcOrd="0" destOrd="0" presId="urn:microsoft.com/office/officeart/2005/8/layout/radial6"/>
    <dgm:cxn modelId="{44DEC347-3759-4335-9ED5-3727407C8D09}" type="presOf" srcId="{3A82027D-3368-4C6C-AFB1-FFDB83452C8E}" destId="{6634CEF4-5FE3-4771-9584-814A161C8192}" srcOrd="0" destOrd="0" presId="urn:microsoft.com/office/officeart/2005/8/layout/radial6"/>
    <dgm:cxn modelId="{7C15DC6A-431F-4B66-B06F-1B242550F3A3}" type="presOf" srcId="{13ADD0A6-BC7A-43EF-8E9C-4BCC80DCFB25}" destId="{666DCE42-DFC1-4F39-A360-1905CB206636}" srcOrd="0" destOrd="0" presId="urn:microsoft.com/office/officeart/2005/8/layout/radial6"/>
    <dgm:cxn modelId="{2F16726E-2783-499F-AB50-33682A7C7043}" type="presOf" srcId="{9189A52D-EEBA-453D-89E0-6C088212FAA4}" destId="{64B68798-C054-485D-AF2D-02AFFC3F9FB4}" srcOrd="0" destOrd="0" presId="urn:microsoft.com/office/officeart/2005/8/layout/radial6"/>
    <dgm:cxn modelId="{67674C51-A981-4D0B-8378-CD1CF4DDC142}" type="presOf" srcId="{24C68214-C91C-4E48-98DD-5E5A82706A0C}" destId="{26D9CF0F-D0EB-4382-A73A-42BC43D74F1B}" srcOrd="0" destOrd="0" presId="urn:microsoft.com/office/officeart/2005/8/layout/radial6"/>
    <dgm:cxn modelId="{7458D073-B1EF-4821-B968-12383AAD1D4D}" type="presOf" srcId="{8593BA3F-C273-4AAC-944B-AE781351C4DD}" destId="{3DBB7F11-FCEA-4386-A9D3-55CAE7E170D1}" srcOrd="0" destOrd="0" presId="urn:microsoft.com/office/officeart/2005/8/layout/radial6"/>
    <dgm:cxn modelId="{C7C41255-2CE1-4FCD-BD39-4A91399EAB8F}" type="presOf" srcId="{38448290-E4EC-4777-B529-EA0FCA8670B5}" destId="{24F648E4-6FA1-4565-BE2C-9B6C87816814}" srcOrd="0" destOrd="0" presId="urn:microsoft.com/office/officeart/2005/8/layout/radial6"/>
    <dgm:cxn modelId="{B9274376-E268-4896-9DE9-B211E6485FC5}" type="presOf" srcId="{EA140679-F36C-4BF1-8EE0-7D6B9B5A6B1A}" destId="{BC68F289-6671-400F-BAA6-E7D272F56F02}" srcOrd="0" destOrd="0" presId="urn:microsoft.com/office/officeart/2005/8/layout/radial6"/>
    <dgm:cxn modelId="{FADC127A-A550-4930-866E-99CE8F8239C4}" type="presOf" srcId="{D607FD8E-FAA0-4DB6-95C9-C4C93F480FB9}" destId="{B7F93218-3D6F-4EAE-8681-75D20120D096}" srcOrd="0" destOrd="0" presId="urn:microsoft.com/office/officeart/2005/8/layout/radial6"/>
    <dgm:cxn modelId="{323AFE7A-C296-430F-8888-3CF111FF01AE}" srcId="{9189A52D-EEBA-453D-89E0-6C088212FAA4}" destId="{43D358A8-74A2-44F7-BDFA-A532360CD9E0}" srcOrd="8" destOrd="0" parTransId="{E9EEF493-7CD2-4105-9813-3DB244F05A60}" sibTransId="{D607FD8E-FAA0-4DB6-95C9-C4C93F480FB9}"/>
    <dgm:cxn modelId="{B491117F-DC29-4B1C-A29B-930624AA0F87}" srcId="{9189A52D-EEBA-453D-89E0-6C088212FAA4}" destId="{8593BA3F-C273-4AAC-944B-AE781351C4DD}" srcOrd="0" destOrd="0" parTransId="{90EAC7B1-28EE-440E-B7B8-DFDCF1CBB802}" sibTransId="{38448290-E4EC-4777-B529-EA0FCA8670B5}"/>
    <dgm:cxn modelId="{ADBF0E88-87C7-4966-9775-19D5D56F87B8}" type="presOf" srcId="{C5662E2F-06D8-4244-86D8-99FACF5F322F}" destId="{666F2A60-23A4-453B-B1A7-CE0093C8875E}" srcOrd="0" destOrd="0" presId="urn:microsoft.com/office/officeart/2005/8/layout/radial6"/>
    <dgm:cxn modelId="{9305F98E-1E79-43EF-856D-9826A7061767}" srcId="{9189A52D-EEBA-453D-89E0-6C088212FAA4}" destId="{3A82027D-3368-4C6C-AFB1-FFDB83452C8E}" srcOrd="5" destOrd="0" parTransId="{7D17A04C-FA2B-466C-ABD4-0592745253C4}" sibTransId="{EC9757D5-A912-4CD7-8300-BDCBC627C6CC}"/>
    <dgm:cxn modelId="{E5CFA79B-AB4F-4412-9E83-ADF7C6371FCA}" type="presOf" srcId="{71856E6A-7AC8-4BC5-A34C-FFBFEAD91A9F}" destId="{D7B50608-AA5C-4898-8353-E2EF9F80313F}" srcOrd="0" destOrd="0" presId="urn:microsoft.com/office/officeart/2005/8/layout/radial6"/>
    <dgm:cxn modelId="{24D678A8-CCE0-42E3-AC61-D9D2AC197593}" type="presOf" srcId="{89F13708-2FDF-429C-B4FC-7D244F626392}" destId="{E9984FAA-34C7-480F-90DF-3ADE45126465}" srcOrd="0" destOrd="0" presId="urn:microsoft.com/office/officeart/2005/8/layout/radial6"/>
    <dgm:cxn modelId="{D7AC60AE-45C8-4CEE-A532-9DF05F2A3580}" type="presOf" srcId="{74AC8F7A-6C57-4A63-A300-D5025870743F}" destId="{CCB7C157-5FBD-4DDE-BEBA-191047FE7675}" srcOrd="0" destOrd="0" presId="urn:microsoft.com/office/officeart/2005/8/layout/radial6"/>
    <dgm:cxn modelId="{1F07FCB6-2384-42B5-9CEE-544A7A4DE713}" type="presOf" srcId="{BCBCD600-430C-4311-B6AA-7CD00AF363CD}" destId="{6CF17F77-E032-4A41-9F38-9FACA655950D}" srcOrd="0" destOrd="0" presId="urn:microsoft.com/office/officeart/2005/8/layout/radial6"/>
    <dgm:cxn modelId="{400072BC-2E3D-47F8-8319-E22A313A0F7B}" srcId="{9189A52D-EEBA-453D-89E0-6C088212FAA4}" destId="{E296EAB9-EE79-4294-9C01-2793CE67D6E9}" srcOrd="9" destOrd="0" parTransId="{FAB7921A-B73A-4974-AE69-7D467A532364}" sibTransId="{EA140679-F36C-4BF1-8EE0-7D6B9B5A6B1A}"/>
    <dgm:cxn modelId="{E7BC75BD-A58B-4ED2-B6D3-36F00D5AFD5E}" type="presOf" srcId="{51A9AC7B-FCE9-4972-BEAC-E6E1561CA0EF}" destId="{4BA0F6F2-ADF5-483A-A561-E881FE1F5D72}" srcOrd="0" destOrd="0" presId="urn:microsoft.com/office/officeart/2005/8/layout/radial6"/>
    <dgm:cxn modelId="{B26365BE-C0C6-4C73-B71F-B4E075B430F9}" srcId="{9189A52D-EEBA-453D-89E0-6C088212FAA4}" destId="{F6771BA9-5991-4A94-851E-C1F9D205F1B3}" srcOrd="6" destOrd="0" parTransId="{27912CD7-5878-41C9-96B6-8B92F6585A2A}" sibTransId="{71856E6A-7AC8-4BC5-A34C-FFBFEAD91A9F}"/>
    <dgm:cxn modelId="{7AB2FBBF-A686-4905-9432-E6251481E5BB}" type="presOf" srcId="{F6771BA9-5991-4A94-851E-C1F9D205F1B3}" destId="{777913BC-8F85-4384-9E6B-F6FFB7346CB1}" srcOrd="0" destOrd="0" presId="urn:microsoft.com/office/officeart/2005/8/layout/radial6"/>
    <dgm:cxn modelId="{D648BFC8-E1F2-454A-BE7A-8E8FB82D8042}" srcId="{9189A52D-EEBA-453D-89E0-6C088212FAA4}" destId="{BCBCD600-430C-4311-B6AA-7CD00AF363CD}" srcOrd="7" destOrd="0" parTransId="{ED1E7586-63C2-45E1-91C7-CD5A4DE7FBE4}" sibTransId="{C5662E2F-06D8-4244-86D8-99FACF5F322F}"/>
    <dgm:cxn modelId="{12EFEEC9-0CEF-4A1E-8C51-E79159E96CC6}" type="presOf" srcId="{0EAFDB6D-6238-493B-9C37-E1F700DE04C8}" destId="{D57B940D-68F5-40FF-970F-19E9AE671C70}" srcOrd="0" destOrd="0" presId="urn:microsoft.com/office/officeart/2005/8/layout/radial6"/>
    <dgm:cxn modelId="{7D5F64EC-B4DC-4617-8CC5-EA9CC2F93FA2}" srcId="{9189A52D-EEBA-453D-89E0-6C088212FAA4}" destId="{24C68214-C91C-4E48-98DD-5E5A82706A0C}" srcOrd="3" destOrd="0" parTransId="{6E114170-53DC-4D3D-A768-D3922D07EAA2}" sibTransId="{2BD83ECF-30D7-43A5-8B4A-6173CAAE1870}"/>
    <dgm:cxn modelId="{E49F21FF-F88A-41A8-9A9E-3ED406D21FD8}" srcId="{9189A52D-EEBA-453D-89E0-6C088212FAA4}" destId="{89F13708-2FDF-429C-B4FC-7D244F626392}" srcOrd="2" destOrd="0" parTransId="{DE83F28A-DA72-451C-8E9B-435F84965105}" sibTransId="{EBC3442F-7959-44C2-8236-A4A796866360}"/>
    <dgm:cxn modelId="{A3E5ED3C-9A4B-43D9-8CD4-5653039F3AE8}" type="presParOf" srcId="{666DCE42-DFC1-4F39-A360-1905CB206636}" destId="{64B68798-C054-485D-AF2D-02AFFC3F9FB4}" srcOrd="0" destOrd="0" presId="urn:microsoft.com/office/officeart/2005/8/layout/radial6"/>
    <dgm:cxn modelId="{785B9E09-34D8-4C8A-9F5E-9026A53729B6}" type="presParOf" srcId="{666DCE42-DFC1-4F39-A360-1905CB206636}" destId="{3DBB7F11-FCEA-4386-A9D3-55CAE7E170D1}" srcOrd="1" destOrd="0" presId="urn:microsoft.com/office/officeart/2005/8/layout/radial6"/>
    <dgm:cxn modelId="{7B3F95CA-808B-459F-A755-56EBF80A16D1}" type="presParOf" srcId="{666DCE42-DFC1-4F39-A360-1905CB206636}" destId="{747F9374-52DF-44DF-B523-E6B5B56542BE}" srcOrd="2" destOrd="0" presId="urn:microsoft.com/office/officeart/2005/8/layout/radial6"/>
    <dgm:cxn modelId="{879D04D6-32A2-40D0-8F35-4D40BEA38EA0}" type="presParOf" srcId="{666DCE42-DFC1-4F39-A360-1905CB206636}" destId="{24F648E4-6FA1-4565-BE2C-9B6C87816814}" srcOrd="3" destOrd="0" presId="urn:microsoft.com/office/officeart/2005/8/layout/radial6"/>
    <dgm:cxn modelId="{EF1D4E96-37C7-42F1-A8B0-4989B34FDBED}" type="presParOf" srcId="{666DCE42-DFC1-4F39-A360-1905CB206636}" destId="{4BA0F6F2-ADF5-483A-A561-E881FE1F5D72}" srcOrd="4" destOrd="0" presId="urn:microsoft.com/office/officeart/2005/8/layout/radial6"/>
    <dgm:cxn modelId="{4BC2DDD6-BB11-4EC6-A0FF-03409F0024A7}" type="presParOf" srcId="{666DCE42-DFC1-4F39-A360-1905CB206636}" destId="{A9A36508-048C-4222-88F3-4F40B978DF9C}" srcOrd="5" destOrd="0" presId="urn:microsoft.com/office/officeart/2005/8/layout/radial6"/>
    <dgm:cxn modelId="{3234FEA4-2040-48DB-AA2B-32DE043A1CA7}" type="presParOf" srcId="{666DCE42-DFC1-4F39-A360-1905CB206636}" destId="{D57B940D-68F5-40FF-970F-19E9AE671C70}" srcOrd="6" destOrd="0" presId="urn:microsoft.com/office/officeart/2005/8/layout/radial6"/>
    <dgm:cxn modelId="{2AE93A4C-9BA3-4691-8662-22AE23204102}" type="presParOf" srcId="{666DCE42-DFC1-4F39-A360-1905CB206636}" destId="{E9984FAA-34C7-480F-90DF-3ADE45126465}" srcOrd="7" destOrd="0" presId="urn:microsoft.com/office/officeart/2005/8/layout/radial6"/>
    <dgm:cxn modelId="{829973B9-C0CD-495B-9657-5C47793F382D}" type="presParOf" srcId="{666DCE42-DFC1-4F39-A360-1905CB206636}" destId="{806E03F4-74E6-4467-9BC2-A916C1A00BF2}" srcOrd="8" destOrd="0" presId="urn:microsoft.com/office/officeart/2005/8/layout/radial6"/>
    <dgm:cxn modelId="{C86DF25E-636B-4104-815E-39DBACF7ABE9}" type="presParOf" srcId="{666DCE42-DFC1-4F39-A360-1905CB206636}" destId="{19537169-84AC-45D8-9C63-67980B88063E}" srcOrd="9" destOrd="0" presId="urn:microsoft.com/office/officeart/2005/8/layout/radial6"/>
    <dgm:cxn modelId="{434DCC18-8AA9-4C6D-B267-B5BCD6B4756B}" type="presParOf" srcId="{666DCE42-DFC1-4F39-A360-1905CB206636}" destId="{26D9CF0F-D0EB-4382-A73A-42BC43D74F1B}" srcOrd="10" destOrd="0" presId="urn:microsoft.com/office/officeart/2005/8/layout/radial6"/>
    <dgm:cxn modelId="{56E2DC69-AB0D-415D-95FC-1135D5498BBC}" type="presParOf" srcId="{666DCE42-DFC1-4F39-A360-1905CB206636}" destId="{40F54D04-5886-4425-9D9B-8B319ADE2B38}" srcOrd="11" destOrd="0" presId="urn:microsoft.com/office/officeart/2005/8/layout/radial6"/>
    <dgm:cxn modelId="{B783CD96-30E7-4D4D-A88C-24DAE70B18FA}" type="presParOf" srcId="{666DCE42-DFC1-4F39-A360-1905CB206636}" destId="{98FBFBE3-655F-4BF6-B027-AA9C29315711}" srcOrd="12" destOrd="0" presId="urn:microsoft.com/office/officeart/2005/8/layout/radial6"/>
    <dgm:cxn modelId="{624972FD-8C8E-4B52-8933-935880D0F8EE}" type="presParOf" srcId="{666DCE42-DFC1-4F39-A360-1905CB206636}" destId="{CCB7C157-5FBD-4DDE-BEBA-191047FE7675}" srcOrd="13" destOrd="0" presId="urn:microsoft.com/office/officeart/2005/8/layout/radial6"/>
    <dgm:cxn modelId="{99A6AF02-BDE8-4C22-B858-1F9C07EC0F9D}" type="presParOf" srcId="{666DCE42-DFC1-4F39-A360-1905CB206636}" destId="{7649DDC1-F35D-4AE4-AA85-5CBC977988B5}" srcOrd="14" destOrd="0" presId="urn:microsoft.com/office/officeart/2005/8/layout/radial6"/>
    <dgm:cxn modelId="{F522E3DE-6066-45C1-924C-63ADFD01D407}" type="presParOf" srcId="{666DCE42-DFC1-4F39-A360-1905CB206636}" destId="{1F354661-6C6A-4626-A871-2A74340398AE}" srcOrd="15" destOrd="0" presId="urn:microsoft.com/office/officeart/2005/8/layout/radial6"/>
    <dgm:cxn modelId="{D5B3E674-2F51-4A93-A8B8-55A51B9908B6}" type="presParOf" srcId="{666DCE42-DFC1-4F39-A360-1905CB206636}" destId="{6634CEF4-5FE3-4771-9584-814A161C8192}" srcOrd="16" destOrd="0" presId="urn:microsoft.com/office/officeart/2005/8/layout/radial6"/>
    <dgm:cxn modelId="{EB28C437-8F47-4F1C-806E-03D47B3D8C0B}" type="presParOf" srcId="{666DCE42-DFC1-4F39-A360-1905CB206636}" destId="{B4F18B3A-1045-44F8-B6AA-A4E17ADF0FFF}" srcOrd="17" destOrd="0" presId="urn:microsoft.com/office/officeart/2005/8/layout/radial6"/>
    <dgm:cxn modelId="{C6A59B6E-6CF2-4112-A937-3882DD3D7161}" type="presParOf" srcId="{666DCE42-DFC1-4F39-A360-1905CB206636}" destId="{5542C350-0303-4D7C-9DAB-97B68E3AA305}" srcOrd="18" destOrd="0" presId="urn:microsoft.com/office/officeart/2005/8/layout/radial6"/>
    <dgm:cxn modelId="{16271128-4261-4D70-945A-0E51FF236D94}" type="presParOf" srcId="{666DCE42-DFC1-4F39-A360-1905CB206636}" destId="{777913BC-8F85-4384-9E6B-F6FFB7346CB1}" srcOrd="19" destOrd="0" presId="urn:microsoft.com/office/officeart/2005/8/layout/radial6"/>
    <dgm:cxn modelId="{83194B36-DA0F-42C8-8B5A-0E0A275DE326}" type="presParOf" srcId="{666DCE42-DFC1-4F39-A360-1905CB206636}" destId="{F6005688-1982-4E66-80D0-DD8D2CCBD426}" srcOrd="20" destOrd="0" presId="urn:microsoft.com/office/officeart/2005/8/layout/radial6"/>
    <dgm:cxn modelId="{C5808CBA-B2E4-4028-8886-C7F765C2902A}" type="presParOf" srcId="{666DCE42-DFC1-4F39-A360-1905CB206636}" destId="{D7B50608-AA5C-4898-8353-E2EF9F80313F}" srcOrd="21" destOrd="0" presId="urn:microsoft.com/office/officeart/2005/8/layout/radial6"/>
    <dgm:cxn modelId="{7617E0F5-A296-452F-AF94-3D3CFC4B6D83}" type="presParOf" srcId="{666DCE42-DFC1-4F39-A360-1905CB206636}" destId="{6CF17F77-E032-4A41-9F38-9FACA655950D}" srcOrd="22" destOrd="0" presId="urn:microsoft.com/office/officeart/2005/8/layout/radial6"/>
    <dgm:cxn modelId="{ABF7F64F-A111-4132-B7BE-C3D6DCEECECE}" type="presParOf" srcId="{666DCE42-DFC1-4F39-A360-1905CB206636}" destId="{4E316707-7A12-4349-BC43-0B9529AB5357}" srcOrd="23" destOrd="0" presId="urn:microsoft.com/office/officeart/2005/8/layout/radial6"/>
    <dgm:cxn modelId="{97AFB06F-C0FA-496A-BDC4-30B595D74FE5}" type="presParOf" srcId="{666DCE42-DFC1-4F39-A360-1905CB206636}" destId="{666F2A60-23A4-453B-B1A7-CE0093C8875E}" srcOrd="24" destOrd="0" presId="urn:microsoft.com/office/officeart/2005/8/layout/radial6"/>
    <dgm:cxn modelId="{CDE68CDB-ED87-4C72-ABC5-189700976064}" type="presParOf" srcId="{666DCE42-DFC1-4F39-A360-1905CB206636}" destId="{F38BE074-8A94-4C03-8D0C-300B48429077}" srcOrd="25" destOrd="0" presId="urn:microsoft.com/office/officeart/2005/8/layout/radial6"/>
    <dgm:cxn modelId="{94FF84DD-C20B-4012-8777-91ABD282777D}" type="presParOf" srcId="{666DCE42-DFC1-4F39-A360-1905CB206636}" destId="{A1584CEE-856B-4EF9-95E4-24A4FA8CE404}" srcOrd="26" destOrd="0" presId="urn:microsoft.com/office/officeart/2005/8/layout/radial6"/>
    <dgm:cxn modelId="{336BBB95-8C4F-4211-A340-10E01E861469}" type="presParOf" srcId="{666DCE42-DFC1-4F39-A360-1905CB206636}" destId="{B7F93218-3D6F-4EAE-8681-75D20120D096}" srcOrd="27" destOrd="0" presId="urn:microsoft.com/office/officeart/2005/8/layout/radial6"/>
    <dgm:cxn modelId="{9D6587D0-7E1F-41D3-B025-6100B37672F4}" type="presParOf" srcId="{666DCE42-DFC1-4F39-A360-1905CB206636}" destId="{0792344A-7FE6-4EDC-A301-837CDFF0CF21}" srcOrd="28" destOrd="0" presId="urn:microsoft.com/office/officeart/2005/8/layout/radial6"/>
    <dgm:cxn modelId="{020FC509-08B8-44B3-B2BA-E571509570CB}" type="presParOf" srcId="{666DCE42-DFC1-4F39-A360-1905CB206636}" destId="{FF77B7DF-490B-4A07-81A2-A4E68CE21658}" srcOrd="29" destOrd="0" presId="urn:microsoft.com/office/officeart/2005/8/layout/radial6"/>
    <dgm:cxn modelId="{F6830FE0-06C7-44E5-90D9-841377285639}" type="presParOf" srcId="{666DCE42-DFC1-4F39-A360-1905CB206636}" destId="{BC68F289-6671-400F-BAA6-E7D272F56F02}" srcOrd="30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68F289-6671-400F-BAA6-E7D272F56F02}">
      <dsp:nvSpPr>
        <dsp:cNvPr id="0" name=""/>
        <dsp:cNvSpPr/>
      </dsp:nvSpPr>
      <dsp:spPr>
        <a:xfrm>
          <a:off x="2893597" y="539728"/>
          <a:ext cx="6055589" cy="6055589"/>
        </a:xfrm>
        <a:prstGeom prst="blockArc">
          <a:avLst>
            <a:gd name="adj1" fmla="val 13826548"/>
            <a:gd name="adj2" fmla="val 16181704"/>
            <a:gd name="adj3" fmla="val 2765"/>
          </a:avLst>
        </a:prstGeom>
        <a:solidFill>
          <a:schemeClr val="accent2">
            <a:shade val="90000"/>
            <a:hueOff val="-106964"/>
            <a:satOff val="-227"/>
            <a:lumOff val="64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93218-3D6F-4EAE-8681-75D20120D096}">
      <dsp:nvSpPr>
        <dsp:cNvPr id="0" name=""/>
        <dsp:cNvSpPr/>
      </dsp:nvSpPr>
      <dsp:spPr>
        <a:xfrm>
          <a:off x="2871887" y="557490"/>
          <a:ext cx="6055589" cy="6055589"/>
        </a:xfrm>
        <a:prstGeom prst="blockArc">
          <a:avLst>
            <a:gd name="adj1" fmla="val 11901473"/>
            <a:gd name="adj2" fmla="val 13858843"/>
            <a:gd name="adj3" fmla="val 2765"/>
          </a:avLst>
        </a:prstGeom>
        <a:solidFill>
          <a:schemeClr val="accent2">
            <a:shade val="90000"/>
            <a:hueOff val="-213928"/>
            <a:satOff val="-454"/>
            <a:lumOff val="129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F2A60-23A4-453B-B1A7-CE0093C8875E}">
      <dsp:nvSpPr>
        <dsp:cNvPr id="0" name=""/>
        <dsp:cNvSpPr/>
      </dsp:nvSpPr>
      <dsp:spPr>
        <a:xfrm>
          <a:off x="2877706" y="539770"/>
          <a:ext cx="6055589" cy="6055589"/>
        </a:xfrm>
        <a:prstGeom prst="blockArc">
          <a:avLst>
            <a:gd name="adj1" fmla="val 9720000"/>
            <a:gd name="adj2" fmla="val 11880000"/>
            <a:gd name="adj3" fmla="val 2765"/>
          </a:avLst>
        </a:prstGeom>
        <a:solidFill>
          <a:schemeClr val="accent2">
            <a:shade val="90000"/>
            <a:hueOff val="-320892"/>
            <a:satOff val="-682"/>
            <a:lumOff val="1939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50608-AA5C-4898-8353-E2EF9F80313F}">
      <dsp:nvSpPr>
        <dsp:cNvPr id="0" name=""/>
        <dsp:cNvSpPr/>
      </dsp:nvSpPr>
      <dsp:spPr>
        <a:xfrm>
          <a:off x="3058885" y="830718"/>
          <a:ext cx="6055589" cy="6055589"/>
        </a:xfrm>
        <a:prstGeom prst="blockArc">
          <a:avLst>
            <a:gd name="adj1" fmla="val 8040234"/>
            <a:gd name="adj2" fmla="val 9962676"/>
            <a:gd name="adj3" fmla="val 2765"/>
          </a:avLst>
        </a:prstGeom>
        <a:solidFill>
          <a:schemeClr val="accent2">
            <a:shade val="90000"/>
            <a:hueOff val="-427856"/>
            <a:satOff val="-909"/>
            <a:lumOff val="258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2C350-0303-4D7C-9DAB-97B68E3AA305}">
      <dsp:nvSpPr>
        <dsp:cNvPr id="0" name=""/>
        <dsp:cNvSpPr/>
      </dsp:nvSpPr>
      <dsp:spPr>
        <a:xfrm>
          <a:off x="2709066" y="544536"/>
          <a:ext cx="6055589" cy="6055589"/>
        </a:xfrm>
        <a:prstGeom prst="blockArc">
          <a:avLst>
            <a:gd name="adj1" fmla="val 5205740"/>
            <a:gd name="adj2" fmla="val 7693723"/>
            <a:gd name="adj3" fmla="val 2765"/>
          </a:avLst>
        </a:prstGeom>
        <a:solidFill>
          <a:schemeClr val="accent2">
            <a:shade val="90000"/>
            <a:hueOff val="-534820"/>
            <a:satOff val="-1136"/>
            <a:lumOff val="323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54661-6C6A-4626-A871-2A74340398AE}">
      <dsp:nvSpPr>
        <dsp:cNvPr id="0" name=""/>
        <dsp:cNvSpPr/>
      </dsp:nvSpPr>
      <dsp:spPr>
        <a:xfrm>
          <a:off x="3145969" y="551845"/>
          <a:ext cx="6055589" cy="6055589"/>
        </a:xfrm>
        <a:prstGeom prst="blockArc">
          <a:avLst>
            <a:gd name="adj1" fmla="val 3092716"/>
            <a:gd name="adj2" fmla="val 5709272"/>
            <a:gd name="adj3" fmla="val 2765"/>
          </a:avLst>
        </a:prstGeom>
        <a:solidFill>
          <a:schemeClr val="accent2">
            <a:shade val="90000"/>
            <a:hueOff val="-427856"/>
            <a:satOff val="-909"/>
            <a:lumOff val="258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BFBE3-655F-4BF6-B027-AA9C29315711}">
      <dsp:nvSpPr>
        <dsp:cNvPr id="0" name=""/>
        <dsp:cNvSpPr/>
      </dsp:nvSpPr>
      <dsp:spPr>
        <a:xfrm>
          <a:off x="2787257" y="888458"/>
          <a:ext cx="6055589" cy="6055589"/>
        </a:xfrm>
        <a:prstGeom prst="blockArc">
          <a:avLst>
            <a:gd name="adj1" fmla="val 665013"/>
            <a:gd name="adj2" fmla="val 2525724"/>
            <a:gd name="adj3" fmla="val 2765"/>
          </a:avLst>
        </a:prstGeom>
        <a:solidFill>
          <a:schemeClr val="accent2">
            <a:shade val="90000"/>
            <a:hueOff val="-320892"/>
            <a:satOff val="-682"/>
            <a:lumOff val="1939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37169-84AC-45D8-9C63-67980B88063E}">
      <dsp:nvSpPr>
        <dsp:cNvPr id="0" name=""/>
        <dsp:cNvSpPr/>
      </dsp:nvSpPr>
      <dsp:spPr>
        <a:xfrm>
          <a:off x="2877706" y="539770"/>
          <a:ext cx="6055589" cy="6055589"/>
        </a:xfrm>
        <a:prstGeom prst="blockArc">
          <a:avLst>
            <a:gd name="adj1" fmla="val 20520000"/>
            <a:gd name="adj2" fmla="val 1080000"/>
            <a:gd name="adj3" fmla="val 2765"/>
          </a:avLst>
        </a:prstGeom>
        <a:solidFill>
          <a:schemeClr val="accent2">
            <a:shade val="90000"/>
            <a:hueOff val="-213928"/>
            <a:satOff val="-454"/>
            <a:lumOff val="129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B940D-68F5-40FF-970F-19E9AE671C70}">
      <dsp:nvSpPr>
        <dsp:cNvPr id="0" name=""/>
        <dsp:cNvSpPr/>
      </dsp:nvSpPr>
      <dsp:spPr>
        <a:xfrm>
          <a:off x="2821454" y="344208"/>
          <a:ext cx="6055589" cy="6055589"/>
        </a:xfrm>
        <a:prstGeom prst="blockArc">
          <a:avLst>
            <a:gd name="adj1" fmla="val 18907764"/>
            <a:gd name="adj2" fmla="val 20754327"/>
            <a:gd name="adj3" fmla="val 2765"/>
          </a:avLst>
        </a:prstGeom>
        <a:solidFill>
          <a:schemeClr val="accent2">
            <a:shade val="90000"/>
            <a:hueOff val="-106964"/>
            <a:satOff val="-227"/>
            <a:lumOff val="64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648E4-6FA1-4565-BE2C-9B6C87816814}">
      <dsp:nvSpPr>
        <dsp:cNvPr id="0" name=""/>
        <dsp:cNvSpPr/>
      </dsp:nvSpPr>
      <dsp:spPr>
        <a:xfrm>
          <a:off x="3031278" y="535818"/>
          <a:ext cx="6055589" cy="6055589"/>
        </a:xfrm>
        <a:prstGeom prst="blockArc">
          <a:avLst>
            <a:gd name="adj1" fmla="val 16023112"/>
            <a:gd name="adj2" fmla="val 18580497"/>
            <a:gd name="adj3" fmla="val 2765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68798-C054-485D-AF2D-02AFFC3F9FB4}">
      <dsp:nvSpPr>
        <dsp:cNvPr id="0" name=""/>
        <dsp:cNvSpPr/>
      </dsp:nvSpPr>
      <dsp:spPr>
        <a:xfrm>
          <a:off x="4493492" y="2245006"/>
          <a:ext cx="2824016" cy="2645118"/>
        </a:xfrm>
        <a:prstGeom prst="ellipse">
          <a:avLst/>
        </a:prstGeom>
        <a:solidFill>
          <a:schemeClr val="accent2">
            <a:shade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 dirty="0"/>
            <a:t>Preiselastizität</a:t>
          </a:r>
        </a:p>
      </dsp:txBody>
      <dsp:txXfrm>
        <a:off x="4907060" y="2632375"/>
        <a:ext cx="1996880" cy="1870380"/>
      </dsp:txXfrm>
    </dsp:sp>
    <dsp:sp modelId="{3DBB7F11-FCEA-4386-A9D3-55CAE7E170D1}">
      <dsp:nvSpPr>
        <dsp:cNvPr id="0" name=""/>
        <dsp:cNvSpPr/>
      </dsp:nvSpPr>
      <dsp:spPr>
        <a:xfrm>
          <a:off x="4944609" y="-20990"/>
          <a:ext cx="1921783" cy="1205233"/>
        </a:xfrm>
        <a:prstGeom prst="ellipse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Angebotspreise (</a:t>
          </a:r>
          <a:r>
            <a:rPr lang="de-DE" sz="1400" kern="1200" dirty="0" err="1"/>
            <a:t>Monatl</a:t>
          </a:r>
          <a:r>
            <a:rPr lang="de-DE" sz="1400" kern="1200" dirty="0"/>
            <a:t>. </a:t>
          </a:r>
          <a:r>
            <a:rPr lang="de-DE" sz="1400" kern="1200" dirty="0" err="1"/>
            <a:t>Prod.Erh</a:t>
          </a:r>
          <a:r>
            <a:rPr lang="de-DE" sz="1400" kern="1200" dirty="0"/>
            <a:t>.)</a:t>
          </a:r>
        </a:p>
      </dsp:txBody>
      <dsp:txXfrm>
        <a:off x="5226048" y="155512"/>
        <a:ext cx="1358905" cy="852229"/>
      </dsp:txXfrm>
    </dsp:sp>
    <dsp:sp modelId="{4BA0F6F2-ADF5-483A-A561-E881FE1F5D72}">
      <dsp:nvSpPr>
        <dsp:cNvPr id="0" name=""/>
        <dsp:cNvSpPr/>
      </dsp:nvSpPr>
      <dsp:spPr>
        <a:xfrm>
          <a:off x="7004499" y="662782"/>
          <a:ext cx="1921783" cy="1205233"/>
        </a:xfrm>
        <a:prstGeom prst="ellipse">
          <a:avLst/>
        </a:prstGeom>
        <a:solidFill>
          <a:schemeClr val="accent2">
            <a:shade val="50000"/>
            <a:hueOff val="-109770"/>
            <a:satOff val="874"/>
            <a:lumOff val="93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Nachgefragte Menge (Monatsbericht)</a:t>
          </a:r>
        </a:p>
      </dsp:txBody>
      <dsp:txXfrm>
        <a:off x="7285938" y="839284"/>
        <a:ext cx="1358905" cy="852229"/>
      </dsp:txXfrm>
    </dsp:sp>
    <dsp:sp modelId="{E9984FAA-34C7-480F-90DF-3ADE45126465}">
      <dsp:nvSpPr>
        <dsp:cNvPr id="0" name=""/>
        <dsp:cNvSpPr/>
      </dsp:nvSpPr>
      <dsp:spPr>
        <a:xfrm>
          <a:off x="7784406" y="2042242"/>
          <a:ext cx="1921783" cy="1205233"/>
        </a:xfrm>
        <a:prstGeom prst="ellipse">
          <a:avLst/>
        </a:prstGeom>
        <a:solidFill>
          <a:schemeClr val="accent2">
            <a:shade val="50000"/>
            <a:hueOff val="-219540"/>
            <a:satOff val="1749"/>
            <a:lumOff val="186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Erzeugerpreise Schokolade</a:t>
          </a:r>
        </a:p>
      </dsp:txBody>
      <dsp:txXfrm>
        <a:off x="8065845" y="2218744"/>
        <a:ext cx="1358905" cy="852229"/>
      </dsp:txXfrm>
    </dsp:sp>
    <dsp:sp modelId="{26D9CF0F-D0EB-4382-A73A-42BC43D74F1B}">
      <dsp:nvSpPr>
        <dsp:cNvPr id="0" name=""/>
        <dsp:cNvSpPr/>
      </dsp:nvSpPr>
      <dsp:spPr>
        <a:xfrm>
          <a:off x="7784406" y="3887654"/>
          <a:ext cx="1921783" cy="1205233"/>
        </a:xfrm>
        <a:prstGeom prst="ellipse">
          <a:avLst/>
        </a:prstGeom>
        <a:solidFill>
          <a:schemeClr val="accent2">
            <a:shade val="50000"/>
            <a:hueOff val="-329309"/>
            <a:satOff val="2623"/>
            <a:lumOff val="280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Einfuhrpreise Schokolade</a:t>
          </a:r>
        </a:p>
      </dsp:txBody>
      <dsp:txXfrm>
        <a:off x="8065845" y="4064156"/>
        <a:ext cx="1358905" cy="852229"/>
      </dsp:txXfrm>
    </dsp:sp>
    <dsp:sp modelId="{CCB7C157-5FBD-4DDE-BEBA-191047FE7675}">
      <dsp:nvSpPr>
        <dsp:cNvPr id="0" name=""/>
        <dsp:cNvSpPr/>
      </dsp:nvSpPr>
      <dsp:spPr>
        <a:xfrm>
          <a:off x="7069816" y="5315312"/>
          <a:ext cx="1921783" cy="1205233"/>
        </a:xfrm>
        <a:prstGeom prst="ellipse">
          <a:avLst/>
        </a:prstGeom>
        <a:solidFill>
          <a:schemeClr val="accent2">
            <a:shade val="50000"/>
            <a:hueOff val="-439079"/>
            <a:satOff val="3498"/>
            <a:lumOff val="373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Haushaltsnachfrage VPI Schokolade</a:t>
          </a:r>
        </a:p>
      </dsp:txBody>
      <dsp:txXfrm>
        <a:off x="7351255" y="5491814"/>
        <a:ext cx="1358905" cy="852229"/>
      </dsp:txXfrm>
    </dsp:sp>
    <dsp:sp modelId="{6634CEF4-5FE3-4771-9584-814A161C8192}">
      <dsp:nvSpPr>
        <dsp:cNvPr id="0" name=""/>
        <dsp:cNvSpPr/>
      </dsp:nvSpPr>
      <dsp:spPr>
        <a:xfrm>
          <a:off x="4944609" y="5950888"/>
          <a:ext cx="1921783" cy="1205233"/>
        </a:xfrm>
        <a:prstGeom prst="ellipse">
          <a:avLst/>
        </a:prstGeom>
        <a:solidFill>
          <a:schemeClr val="accent2">
            <a:shade val="50000"/>
            <a:hueOff val="-548849"/>
            <a:satOff val="4372"/>
            <a:lumOff val="467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Kakao Futures</a:t>
          </a:r>
        </a:p>
      </dsp:txBody>
      <dsp:txXfrm>
        <a:off x="5226048" y="6127390"/>
        <a:ext cx="1358905" cy="852229"/>
      </dsp:txXfrm>
    </dsp:sp>
    <dsp:sp modelId="{777913BC-8F85-4384-9E6B-F6FFB7346CB1}">
      <dsp:nvSpPr>
        <dsp:cNvPr id="0" name=""/>
        <dsp:cNvSpPr/>
      </dsp:nvSpPr>
      <dsp:spPr>
        <a:xfrm>
          <a:off x="2928263" y="5315310"/>
          <a:ext cx="1921783" cy="1205233"/>
        </a:xfrm>
        <a:prstGeom prst="ellipse">
          <a:avLst/>
        </a:prstGeom>
        <a:solidFill>
          <a:schemeClr val="accent2">
            <a:shade val="50000"/>
            <a:hueOff val="-439079"/>
            <a:satOff val="3498"/>
            <a:lumOff val="373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Kaffee Futures</a:t>
          </a:r>
        </a:p>
      </dsp:txBody>
      <dsp:txXfrm>
        <a:off x="3209702" y="5491812"/>
        <a:ext cx="1358905" cy="852229"/>
      </dsp:txXfrm>
    </dsp:sp>
    <dsp:sp modelId="{6CF17F77-E032-4A41-9F38-9FACA655950D}">
      <dsp:nvSpPr>
        <dsp:cNvPr id="0" name=""/>
        <dsp:cNvSpPr/>
      </dsp:nvSpPr>
      <dsp:spPr>
        <a:xfrm>
          <a:off x="2104811" y="3887654"/>
          <a:ext cx="1921783" cy="1205233"/>
        </a:xfrm>
        <a:prstGeom prst="ellipse">
          <a:avLst/>
        </a:prstGeom>
        <a:solidFill>
          <a:schemeClr val="accent2">
            <a:shade val="50000"/>
            <a:hueOff val="-329309"/>
            <a:satOff val="2623"/>
            <a:lumOff val="280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 err="1"/>
            <a:t>Mondelezaktie</a:t>
          </a:r>
          <a:endParaRPr lang="de-DE" sz="1400" kern="1200" dirty="0"/>
        </a:p>
      </dsp:txBody>
      <dsp:txXfrm>
        <a:off x="2386250" y="4064156"/>
        <a:ext cx="1358905" cy="852229"/>
      </dsp:txXfrm>
    </dsp:sp>
    <dsp:sp modelId="{F38BE074-8A94-4C03-8D0C-300B48429077}">
      <dsp:nvSpPr>
        <dsp:cNvPr id="0" name=""/>
        <dsp:cNvSpPr/>
      </dsp:nvSpPr>
      <dsp:spPr>
        <a:xfrm>
          <a:off x="2104811" y="2042242"/>
          <a:ext cx="1921783" cy="1205233"/>
        </a:xfrm>
        <a:prstGeom prst="ellipse">
          <a:avLst/>
        </a:prstGeom>
        <a:solidFill>
          <a:schemeClr val="accent2">
            <a:shade val="50000"/>
            <a:hueOff val="-219540"/>
            <a:satOff val="1749"/>
            <a:lumOff val="186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Ferreroaktie</a:t>
          </a:r>
          <a:endParaRPr lang="de-DE" sz="1400" kern="1200" dirty="0"/>
        </a:p>
      </dsp:txBody>
      <dsp:txXfrm>
        <a:off x="2386250" y="2218744"/>
        <a:ext cx="1358905" cy="852229"/>
      </dsp:txXfrm>
    </dsp:sp>
    <dsp:sp modelId="{0792344A-7FE6-4EDC-A301-837CDFF0CF21}">
      <dsp:nvSpPr>
        <dsp:cNvPr id="0" name=""/>
        <dsp:cNvSpPr/>
      </dsp:nvSpPr>
      <dsp:spPr>
        <a:xfrm>
          <a:off x="3058897" y="662790"/>
          <a:ext cx="1921783" cy="1205233"/>
        </a:xfrm>
        <a:prstGeom prst="ellipse">
          <a:avLst/>
        </a:prstGeom>
        <a:solidFill>
          <a:schemeClr val="accent2">
            <a:shade val="50000"/>
            <a:hueOff val="-109770"/>
            <a:satOff val="874"/>
            <a:lumOff val="93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 err="1"/>
            <a:t>LindtSprüngli</a:t>
          </a:r>
          <a:r>
            <a:rPr lang="de-DE" sz="1400" kern="1200" dirty="0"/>
            <a:t> „Aktie“</a:t>
          </a:r>
          <a:endParaRPr lang="de-DE" sz="900" kern="1200" dirty="0"/>
        </a:p>
      </dsp:txBody>
      <dsp:txXfrm>
        <a:off x="3340336" y="839292"/>
        <a:ext cx="1358905" cy="852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80D071-816A-B3D8-8780-E33F35B1B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9958F6-6429-6510-F4B1-8894B6265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F9CC72-5B56-575D-A53D-128662B0E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814437-62B1-8C0E-409C-11773CA0F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5E4BA6-5055-11A8-804D-7E62D68A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133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65B6D-C9DC-3720-03C7-128EC5D0915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solidFill>
                  <a:srgbClr val="6D5050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098C25-1D20-69F3-09A9-1E497A4A941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8597DF-80EF-C500-10B9-5A9963468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28C60F-51B3-CB2A-C962-71B9DA883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0599CE-4932-2552-E1E4-62528894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596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FE095-06A4-015B-8ADF-89BB89BDC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8D4CBC-B8BC-678C-DFF8-1D5BA0413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88409B-9363-72B8-E2B5-446F6FF2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BC1F9F-C60F-0C90-08EC-6A44423E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33E2EE-F085-7DFE-C135-008C5107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30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BDF70-2BC9-99EA-E70D-2817708D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B149FA-B143-7723-3012-CF9FEDF1A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DDAE3D-A7DC-334A-8976-71EA60B46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39D367-3C92-5F72-09EF-5D837911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E887F9-A5E3-5287-DB8E-7AD59717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D892B1-539B-F742-8BEB-52AA6681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86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D37F4-1EEF-B0F7-53BD-05196041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2D151A-744A-8EF1-E1FD-CDE722AC7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E5542A-C1C0-82B5-CD2E-05F248799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B0AD98A-05CD-D225-A9A7-0218C8AB0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0D35FC7-2803-ADED-D08C-850BB9C54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0EF99BD-D5D3-04DB-99B2-2989512C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175089B-C909-1BC1-8128-2CDD6C31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75BBAF6-94F9-60A4-BF3A-7B290CA43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694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14668D-2E7C-A8F4-9112-0B949FFE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A33366-8B07-80D4-9E36-433F2496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A0176-7D34-668C-76C1-B6655DB21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503E08-053C-3CA1-EF6E-5F915B89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52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8452BFA-1D57-E855-E0D9-889CAD464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C6E3EE-7CFE-4BF9-EFA1-CFDFBBC4F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F0996D-8D4C-0AE4-B855-D2CF9B29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9298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35E80-7020-E4DA-170D-16BEC4FF2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B0E4DE-462E-73D0-2276-139DFD7F6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7A84B0-6EF1-8C21-1C37-010DCED9C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0BE36C-CAF1-4ADA-4AB4-1E93F211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9D39A4-0A6C-A4CD-7FCF-A66E0797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F396DF-59DD-FB93-D5F1-CEDB2BAE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402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1CF2FF-DF65-8337-7C73-B1F50F2B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0BEAD3-0062-A5DC-0387-25E65AC5C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4A776E-D1BC-00EB-9A47-AADB5C594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C2038F-618A-71B2-8B9D-D06299C3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92C740-57AB-94A9-8EEC-1FEBF322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D5B38F-A496-C341-0F2D-BED1B7239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6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81126-83E9-EC34-2AAC-45FB4EFC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028963-7F84-86C7-724F-D153FD13A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1D24D6-8A27-E7FF-A6F1-9FED0115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51BE68-F9E7-511A-95CB-11D225E1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17100A-ACA7-9C70-7063-79FAF4E1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98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7911A45-5EE2-926B-F932-96B933CCF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41E9A9-56CE-6235-694C-4BD642531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5FDEA7-DA66-06BE-7FC6-984EF09A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A43D-7CA1-431C-A222-1F3E234D403A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53FFEC-5536-C388-A207-3A8EEAAC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25916C-8277-F989-E9F6-FA4073AEC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AC26-B971-42F0-9401-C72B77A88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80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xhere.com/de/photo/1015165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361D906-9181-FD54-D3EC-7E1E788232B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-258619" y="-807413"/>
            <a:ext cx="12940145" cy="8626763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1FF01D6-6813-34D9-A6DB-B68E6EFB0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ED31B8-E4C4-A55B-FAC6-A29D1576C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055E8C-2100-433F-E80A-6C0EFFDF2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098A43D-7CA1-431C-A222-1F3E234D403A}" type="datetimeFigureOut">
              <a:rPr lang="de-DE" smtClean="0"/>
              <a:pPr/>
              <a:t>12.02.2026</a:t>
            </a:fld>
            <a:endParaRPr lang="de-D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03F754-057E-9BB1-74A0-33DAB274E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9DAC1D-73AA-B53C-E704-524CB24CC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4B5DAC26-B971-42F0-9401-C72B77A8835E}" type="slidenum">
              <a:rPr lang="de-DE" smtClean="0"/>
              <a:pPr/>
              <a:t>‹Nr.›</a:t>
            </a:fld>
            <a:endParaRPr lang="de-DE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00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bad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bad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bad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bad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bad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bad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D65B1-86E0-29B1-06D7-0736A32B8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Schätzung der Schokoladenpreise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3053A70-C56A-76DB-96D0-ACC9D7381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Eine Preiselastizitätsschätzung aus Unternehmensperspektive</a:t>
            </a:r>
          </a:p>
        </p:txBody>
      </p:sp>
    </p:spTree>
    <p:extLst>
      <p:ext uri="{BB962C8B-B14F-4D97-AF65-F5344CB8AC3E}">
        <p14:creationId xmlns:p14="http://schemas.microsoft.com/office/powerpoint/2010/main" val="281596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FA7FC5-7C0D-BD59-F6F1-F472465F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pPr algn="ctr"/>
            <a:r>
              <a:rPr lang="de-DE" dirty="0">
                <a:solidFill>
                  <a:srgbClr val="6D5050"/>
                </a:solidFill>
              </a:rPr>
              <a:t>Agenda</a:t>
            </a: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D270D079-2825-F51F-AA88-B51D5173B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81042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092917" y="2029399"/>
          <a:ext cx="9984501" cy="411766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254698">
                  <a:extLst>
                    <a:ext uri="{9D8B030D-6E8A-4147-A177-3AD203B41FA5}">
                      <a16:colId xmlns:a16="http://schemas.microsoft.com/office/drawing/2014/main" val="3893957725"/>
                    </a:ext>
                  </a:extLst>
                </a:gridCol>
                <a:gridCol w="7729803">
                  <a:extLst>
                    <a:ext uri="{9D8B030D-6E8A-4147-A177-3AD203B41FA5}">
                      <a16:colId xmlns:a16="http://schemas.microsoft.com/office/drawing/2014/main" val="2925422388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3300" b="1" cap="none" spc="0" dirty="0">
                          <a:solidFill>
                            <a:srgbClr val="6D5050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100" b="0" cap="none" spc="0" dirty="0">
                          <a:solidFill>
                            <a:schemeClr val="tx1"/>
                          </a:solidFill>
                        </a:rPr>
                        <a:t>Aufgabenstellung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700498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3300" b="1" cap="none" spc="0" dirty="0">
                          <a:solidFill>
                            <a:srgbClr val="6D5050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100" b="0" cap="none" spc="0" dirty="0">
                          <a:solidFill>
                            <a:schemeClr val="tx1"/>
                          </a:solidFill>
                        </a:rPr>
                        <a:t>Datenbasis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634522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3300" b="1" cap="none" spc="0" dirty="0">
                          <a:solidFill>
                            <a:srgbClr val="6D5050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100" b="0" cap="none" spc="0" dirty="0">
                          <a:solidFill>
                            <a:schemeClr val="tx1"/>
                          </a:solidFill>
                        </a:rPr>
                        <a:t>Modelle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960131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3300" b="1" cap="none" spc="0" dirty="0">
                          <a:solidFill>
                            <a:srgbClr val="6D5050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100" b="0" cap="none" spc="0" dirty="0">
                          <a:solidFill>
                            <a:schemeClr val="tx1"/>
                          </a:solidFill>
                        </a:rPr>
                        <a:t>Empfehlung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294219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3300" b="1" cap="none" spc="0" dirty="0">
                          <a:solidFill>
                            <a:srgbClr val="6D5050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100" b="0" cap="none" spc="0" dirty="0">
                          <a:solidFill>
                            <a:schemeClr val="tx1"/>
                          </a:solidFill>
                        </a:rPr>
                        <a:t>Fazit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874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51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F0357-0805-7118-40A1-98655388C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6D5050"/>
                </a:solidFill>
              </a:rPr>
              <a:t>Aufgabenstellung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2F0F06-4724-DEF7-D848-478ADEFD5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Das Management eines Schokoladen- und Pralinenherstellers fragt an, ob wir eine fundierte Empfehlung für die nächste Preissteigerung abgeben können. </a:t>
            </a:r>
          </a:p>
          <a:p>
            <a:r>
              <a:rPr lang="de-DE" dirty="0">
                <a:solidFill>
                  <a:schemeClr val="tx1"/>
                </a:solidFill>
              </a:rPr>
              <a:t>Die vermehrten Rohstoffpreise der </a:t>
            </a:r>
            <a:r>
              <a:rPr lang="de-DE">
                <a:solidFill>
                  <a:schemeClr val="tx1"/>
                </a:solidFill>
              </a:rPr>
              <a:t>Kakaobohne sollen </a:t>
            </a:r>
            <a:r>
              <a:rPr lang="de-DE" dirty="0">
                <a:solidFill>
                  <a:schemeClr val="tx1"/>
                </a:solidFill>
              </a:rPr>
              <a:t>so auf die Kunden umgelegt werden, dass der Kundenstamm nicht zu sehr wegbricht.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de-DE" dirty="0">
                <a:solidFill>
                  <a:schemeClr val="tx1"/>
                </a:solidFill>
              </a:rPr>
              <a:t>Wie weit dürfen die Preise in den nächsten Monaten steigen, ohne dass die Nachfrage zu sehr wegfällt?</a:t>
            </a:r>
          </a:p>
          <a:p>
            <a:pPr marL="0" indent="0"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65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38C8D3-8BD5-F20F-3A55-1A98B6A1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Datenbasis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C3CEF9-F605-21A7-9770-B93C7BC20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F4ACED6-EB05-3CCD-E504-9BD82E886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8C9FF37-9655-04E2-CFF7-42EF5DAA06B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6A5A4E89-F8CD-8A9C-515E-C8131B6244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2" name="Inhaltsplatzhalter 3">
            <a:extLst>
              <a:ext uri="{FF2B5EF4-FFF2-40B4-BE49-F238E27FC236}">
                <a16:creationId xmlns:a16="http://schemas.microsoft.com/office/drawing/2014/main" id="{4D8D24F6-B5F5-27B4-3FF1-50225F1B39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402039"/>
              </p:ext>
            </p:extLst>
          </p:nvPr>
        </p:nvGraphicFramePr>
        <p:xfrm>
          <a:off x="653144" y="-138566"/>
          <a:ext cx="11811002" cy="7135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34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086385-F15E-992F-960D-2CF65592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3CAC79-EE85-A79E-CFFB-DD77DC93D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BCF96C4-1292-C069-ADF2-5B30964C53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3" y="161772"/>
            <a:ext cx="5157787" cy="3057831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1445420-02AA-0509-FD6E-3633FDFA7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C983068B-09FD-70BB-3DC3-5644430984C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192865"/>
            <a:ext cx="5183188" cy="299564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8AD97C1-7271-5294-173F-CB13ACD155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907" y="3391863"/>
            <a:ext cx="5263262" cy="30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8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73166-18AA-E9B9-3248-76A58FA9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73C7F8-6EF5-CAE9-3D2E-D8EF8A024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ARIMAX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ADA186-468E-C0C2-0BBB-1111C0A79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XGBoost</a:t>
            </a:r>
            <a:endParaRPr lang="de-DE" dirty="0"/>
          </a:p>
        </p:txBody>
      </p:sp>
      <p:graphicFrame>
        <p:nvGraphicFramePr>
          <p:cNvPr id="15" name="Inhaltsplatzhalter 14">
            <a:extLst>
              <a:ext uri="{FF2B5EF4-FFF2-40B4-BE49-F238E27FC236}">
                <a16:creationId xmlns:a16="http://schemas.microsoft.com/office/drawing/2014/main" id="{FCAD1B8D-C974-8A79-D0B7-48654959DE5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163422504"/>
              </p:ext>
            </p:extLst>
          </p:nvPr>
        </p:nvGraphicFramePr>
        <p:xfrm>
          <a:off x="6172201" y="3108333"/>
          <a:ext cx="5183186" cy="2478072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808131">
                  <a:extLst>
                    <a:ext uri="{9D8B030D-6E8A-4147-A177-3AD203B41FA5}">
                      <a16:colId xmlns:a16="http://schemas.microsoft.com/office/drawing/2014/main" val="2706373458"/>
                    </a:ext>
                  </a:extLst>
                </a:gridCol>
                <a:gridCol w="808131">
                  <a:extLst>
                    <a:ext uri="{9D8B030D-6E8A-4147-A177-3AD203B41FA5}">
                      <a16:colId xmlns:a16="http://schemas.microsoft.com/office/drawing/2014/main" val="3806892361"/>
                    </a:ext>
                  </a:extLst>
                </a:gridCol>
                <a:gridCol w="808131">
                  <a:extLst>
                    <a:ext uri="{9D8B030D-6E8A-4147-A177-3AD203B41FA5}">
                      <a16:colId xmlns:a16="http://schemas.microsoft.com/office/drawing/2014/main" val="959529764"/>
                    </a:ext>
                  </a:extLst>
                </a:gridCol>
                <a:gridCol w="808131">
                  <a:extLst>
                    <a:ext uri="{9D8B030D-6E8A-4147-A177-3AD203B41FA5}">
                      <a16:colId xmlns:a16="http://schemas.microsoft.com/office/drawing/2014/main" val="2014148998"/>
                    </a:ext>
                  </a:extLst>
                </a:gridCol>
                <a:gridCol w="808131">
                  <a:extLst>
                    <a:ext uri="{9D8B030D-6E8A-4147-A177-3AD203B41FA5}">
                      <a16:colId xmlns:a16="http://schemas.microsoft.com/office/drawing/2014/main" val="2110065246"/>
                    </a:ext>
                  </a:extLst>
                </a:gridCol>
                <a:gridCol w="1142531">
                  <a:extLst>
                    <a:ext uri="{9D8B030D-6E8A-4147-A177-3AD203B41FA5}">
                      <a16:colId xmlns:a16="http://schemas.microsoft.com/office/drawing/2014/main" val="3646772082"/>
                    </a:ext>
                  </a:extLst>
                </a:gridCol>
              </a:tblGrid>
              <a:tr h="30047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 dirty="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de-DE" sz="900" dirty="0">
                          <a:effectLst/>
                        </a:rPr>
                      </a:br>
                      <a:r>
                        <a:rPr lang="de-DE" sz="900" dirty="0">
                          <a:effectLst/>
                        </a:rPr>
                        <a:t>Actual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dirty="0" err="1">
                          <a:effectLst/>
                        </a:rPr>
                        <a:t>Prediction</a:t>
                      </a:r>
                      <a:endParaRPr lang="de-DE" sz="900" dirty="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dirty="0" err="1">
                          <a:effectLst/>
                        </a:rPr>
                        <a:t>Mean_Relative_Error</a:t>
                      </a:r>
                      <a:endParaRPr lang="de-DE" sz="900" dirty="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dirty="0" err="1">
                          <a:effectLst/>
                        </a:rPr>
                        <a:t>Mean_Absolute_Error</a:t>
                      </a:r>
                      <a:endParaRPr lang="de-DE" sz="900" dirty="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dirty="0">
                          <a:effectLst/>
                        </a:rPr>
                        <a:t>R2_Score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760233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>
                          <a:effectLst/>
                        </a:rPr>
                        <a:t>Datum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 dirty="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 dirty="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>
                        <a:effectLst/>
                      </a:endParaRP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553708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2020-12-31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0.723624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0.703789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0.027411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0.019835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0.999451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581491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2021-01-31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-0.158603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-0.158050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0.015450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0.010194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0.999451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705746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2021-02-28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0.880079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0.879604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0.010480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0.006954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0.999451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752450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2021-03-31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0.133023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0.133659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0.009056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0.005375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0.999451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60752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2024-07-31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0.796324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0.795721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0.000757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0.000603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0.999997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856824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2024-08-31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0.784604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0.785660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0.001051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0.000829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0.999997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508995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2024-09-30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1.646908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1.646499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0.000784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0.000689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0.999997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341210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2024-10-31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1.331671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1.331481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0.000623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0.000565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0.999997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416355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2025-08-31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0.861298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0.861329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0.000037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0.000032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-0.579789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689284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2025-09-30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0.916343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0.861329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0.030037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0.027523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-0.579789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373926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2025-10-31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-4.733622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1.602157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0.466179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2.130275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-0.579789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01695"/>
                  </a:ext>
                </a:extLst>
              </a:tr>
              <a:tr h="1652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2025-11-30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1.427131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1.642504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0.387362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1.651549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>
                          <a:effectLst/>
                        </a:rPr>
                        <a:t>-0.579789</a:t>
                      </a:r>
                    </a:p>
                  </a:txBody>
                  <a:tcPr marL="30047" marR="30047" marT="15024" marB="15024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68953"/>
                  </a:ext>
                </a:extLst>
              </a:tr>
            </a:tbl>
          </a:graphicData>
        </a:graphic>
      </p:graphicFrame>
      <p:graphicFrame>
        <p:nvGraphicFramePr>
          <p:cNvPr id="14" name="Inhaltsplatzhalter 13">
            <a:extLst>
              <a:ext uri="{FF2B5EF4-FFF2-40B4-BE49-F238E27FC236}">
                <a16:creationId xmlns:a16="http://schemas.microsoft.com/office/drawing/2014/main" id="{F9938714-52FC-FB34-BCF7-CBA2DE1B152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673291"/>
              </p:ext>
            </p:extLst>
          </p:nvPr>
        </p:nvGraphicFramePr>
        <p:xfrm>
          <a:off x="839788" y="3109369"/>
          <a:ext cx="5157787" cy="2476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804171">
                  <a:extLst>
                    <a:ext uri="{9D8B030D-6E8A-4147-A177-3AD203B41FA5}">
                      <a16:colId xmlns:a16="http://schemas.microsoft.com/office/drawing/2014/main" val="2761766724"/>
                    </a:ext>
                  </a:extLst>
                </a:gridCol>
                <a:gridCol w="804171">
                  <a:extLst>
                    <a:ext uri="{9D8B030D-6E8A-4147-A177-3AD203B41FA5}">
                      <a16:colId xmlns:a16="http://schemas.microsoft.com/office/drawing/2014/main" val="1946741060"/>
                    </a:ext>
                  </a:extLst>
                </a:gridCol>
                <a:gridCol w="804171">
                  <a:extLst>
                    <a:ext uri="{9D8B030D-6E8A-4147-A177-3AD203B41FA5}">
                      <a16:colId xmlns:a16="http://schemas.microsoft.com/office/drawing/2014/main" val="3381050575"/>
                    </a:ext>
                  </a:extLst>
                </a:gridCol>
                <a:gridCol w="804171">
                  <a:extLst>
                    <a:ext uri="{9D8B030D-6E8A-4147-A177-3AD203B41FA5}">
                      <a16:colId xmlns:a16="http://schemas.microsoft.com/office/drawing/2014/main" val="422377020"/>
                    </a:ext>
                  </a:extLst>
                </a:gridCol>
                <a:gridCol w="804171">
                  <a:extLst>
                    <a:ext uri="{9D8B030D-6E8A-4147-A177-3AD203B41FA5}">
                      <a16:colId xmlns:a16="http://schemas.microsoft.com/office/drawing/2014/main" val="3506416076"/>
                    </a:ext>
                  </a:extLst>
                </a:gridCol>
                <a:gridCol w="1136932">
                  <a:extLst>
                    <a:ext uri="{9D8B030D-6E8A-4147-A177-3AD203B41FA5}">
                      <a16:colId xmlns:a16="http://schemas.microsoft.com/office/drawing/2014/main" val="3780471237"/>
                    </a:ext>
                  </a:extLst>
                </a:gridCol>
              </a:tblGrid>
              <a:tr h="29900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 dirty="0">
                        <a:effectLst/>
                      </a:endParaRP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de-DE" sz="900" dirty="0">
                          <a:effectLst/>
                        </a:rPr>
                      </a:br>
                      <a:r>
                        <a:rPr lang="de-DE" sz="900" dirty="0">
                          <a:effectLst/>
                        </a:rPr>
                        <a:t>Actual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dirty="0" err="1">
                          <a:effectLst/>
                        </a:rPr>
                        <a:t>Prediction</a:t>
                      </a:r>
                      <a:endParaRPr lang="de-DE" sz="900" dirty="0">
                        <a:effectLst/>
                      </a:endParaRP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>
                          <a:effectLst/>
                        </a:rPr>
                        <a:t>Mean_Relative_Error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>
                          <a:effectLst/>
                        </a:rPr>
                        <a:t>Mean_Absolute_Error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dirty="0">
                          <a:effectLst/>
                        </a:rPr>
                        <a:t>R2_Score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653833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>
                          <a:effectLst/>
                        </a:rPr>
                        <a:t>Datum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>
                        <a:effectLst/>
                      </a:endParaRP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>
                        <a:effectLst/>
                      </a:endParaRP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>
                        <a:effectLst/>
                      </a:endParaRP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>
                        <a:effectLst/>
                      </a:endParaRP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e-DE" sz="900">
                        <a:effectLst/>
                      </a:endParaRP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596566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2020-12-31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0.723624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-5.216018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8.208187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5.939642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211773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2021-01-31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-0.158603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-1.032312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5.508783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0.873709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5701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2021-02-28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0.880079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-0.642395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1.729928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1.522474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338264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2021-03-31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0.133023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-0.989589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8.439234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1.122612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580628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2024-07-31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0.796324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-1.339881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2.682583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2.136205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52925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2024-08-31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0.784604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-0.760340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1.969074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1.544944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327166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2024-09-30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1.646908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0.087900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0.946627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1.559008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979572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2024-10-31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1.331671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0.878522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0.340286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0.453150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048375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2025-08-31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0.861298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-1.560896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2.812261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2.422194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744662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2025-09-30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0.916343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9.201285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9.041308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8.284942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225518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2025-10-31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-4.733622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28.238548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6.965526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32.972170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99549"/>
                  </a:ext>
                </a:extLst>
              </a:tr>
              <a:tr h="164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>
                          <a:effectLst/>
                        </a:rPr>
                        <a:t>2025-11-30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1.427131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33.688115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22.605480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effectLst/>
                        </a:rPr>
                        <a:t>32.260983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>
                          <a:effectLst/>
                        </a:rPr>
                        <a:t>-70.864797</a:t>
                      </a:r>
                    </a:p>
                  </a:txBody>
                  <a:tcPr marL="29900" marR="29900" marT="14950" marB="14950" anchor="ctr">
                    <a:solidFill>
                      <a:srgbClr val="D4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98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151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A5FFC-732C-BB67-8EA0-1F5AE42D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2019-01-31 bis 2021-04-31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0DDA08-6C80-3E48-06E3-FCFF83243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ARIMAX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4126B0EB-921B-FCF2-3853-B0AD3F2F59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967778"/>
            <a:ext cx="5157787" cy="2759181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AE3327-DD36-96B9-7725-277E541A4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XGBoost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9EA3560-288C-4E32-7B97-F7A1E366276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34707"/>
            <a:ext cx="5183188" cy="24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81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8D6D1-6CB7-0643-82ED-37080AF9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2024-08-31 bis 2024-10-31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F39423-6472-107D-C17C-3A6350966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ARIMAX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7DC24BE5-11F5-714F-2D98-334B21CA1A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985713"/>
            <a:ext cx="5157787" cy="2723311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C60529-7215-3CA4-7405-1DADC06C1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XGBoost</a:t>
            </a:r>
            <a:endParaRPr lang="de-DE" dirty="0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8B0CB48B-6B50-F7E1-9CF0-A4DA3E993E0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22130"/>
            <a:ext cx="5183188" cy="2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0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EAC266-2CC1-7D1E-F37D-50A5E72C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2025-08-31 bis 2025-11-30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37098E-62B3-19CC-4BD1-69779CB9E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ARIMAX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DDC3664-D374-0F2B-C6FB-1282D37229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967778"/>
            <a:ext cx="5157787" cy="2759181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B03D24-BBEB-2609-E5C9-5BF5B7661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XGBoost</a:t>
            </a:r>
            <a:endParaRPr lang="de-DE" dirty="0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44FC93D3-8A5D-5B2D-18DF-CD245B49513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21070"/>
            <a:ext cx="5183188" cy="245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7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0E350B9D-2942-165E-1477-527FB757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Empfehlung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19EF7CB-B07F-A2F7-CC8B-DF6E8AB4A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Interpretation Preiselastizität: Bei einem Preisanstieg von 1% ändert sich die Nachfrage entsprechend um x%</a:t>
            </a:r>
          </a:p>
          <a:p>
            <a:r>
              <a:rPr lang="de-DE" dirty="0">
                <a:solidFill>
                  <a:schemeClr val="tx1"/>
                </a:solidFill>
              </a:rPr>
              <a:t>Für die Empfehlung wird die Schätzung von </a:t>
            </a:r>
            <a:r>
              <a:rPr lang="de-DE" dirty="0" err="1">
                <a:solidFill>
                  <a:schemeClr val="tx1"/>
                </a:solidFill>
              </a:rPr>
              <a:t>XGBoost</a:t>
            </a:r>
            <a:r>
              <a:rPr lang="de-DE" dirty="0">
                <a:solidFill>
                  <a:schemeClr val="tx1"/>
                </a:solidFill>
              </a:rPr>
              <a:t> herangezogen: ungefähr </a:t>
            </a:r>
            <a:r>
              <a:rPr lang="de-DE" dirty="0" err="1">
                <a:solidFill>
                  <a:schemeClr val="tx1"/>
                </a:solidFill>
              </a:rPr>
              <a:t>isoelastische</a:t>
            </a:r>
            <a:r>
              <a:rPr lang="de-DE" dirty="0">
                <a:solidFill>
                  <a:schemeClr val="tx1"/>
                </a:solidFill>
              </a:rPr>
              <a:t> Nachfrage, wobei sich die Nachfrage genauso stark wie der Preisanstieg ändern sollte</a:t>
            </a:r>
          </a:p>
          <a:p>
            <a:r>
              <a:rPr lang="de-DE" dirty="0">
                <a:solidFill>
                  <a:schemeClr val="tx1"/>
                </a:solidFill>
              </a:rPr>
              <a:t>Entscheidungsfrage beim Management, gemessen an der Gewinnmarge -&gt; Preissteigerung sollte Gewinnmarge nicht übersteigen!</a:t>
            </a:r>
          </a:p>
          <a:p>
            <a:pPr marL="0" indent="0"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768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2E9D0A-D483-C58C-7C99-267C757B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79B7A8-0132-C2A5-47E6-FDEC0B787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Die Modelle müssen definitiv noch nachgeschärft werden, sollte nur einem schnellem Überblick dienen</a:t>
            </a:r>
          </a:p>
          <a:p>
            <a:r>
              <a:rPr lang="de-DE" dirty="0">
                <a:solidFill>
                  <a:schemeClr val="tx1"/>
                </a:solidFill>
              </a:rPr>
              <a:t>Weitere Modelle sind in Bearbeitung: </a:t>
            </a:r>
            <a:r>
              <a:rPr lang="de-DE" dirty="0" err="1">
                <a:solidFill>
                  <a:schemeClr val="tx1"/>
                </a:solidFill>
              </a:rPr>
              <a:t>RandomForest</a:t>
            </a:r>
            <a:r>
              <a:rPr lang="de-DE" dirty="0">
                <a:solidFill>
                  <a:schemeClr val="tx1"/>
                </a:solidFill>
              </a:rPr>
              <a:t>, Neuronales Netz und SVM</a:t>
            </a:r>
          </a:p>
          <a:p>
            <a:r>
              <a:rPr lang="de-DE" dirty="0">
                <a:solidFill>
                  <a:schemeClr val="tx1"/>
                </a:solidFill>
              </a:rPr>
              <a:t>Weitere externe Daten sollten überlegt werden, da nicht alle exogenen Schocks mit vorhandenen Features oder deren Kombinationen erklärt werden konnten</a:t>
            </a:r>
          </a:p>
          <a:p>
            <a:r>
              <a:rPr lang="de-DE" dirty="0">
                <a:solidFill>
                  <a:schemeClr val="tx1"/>
                </a:solidFill>
              </a:rPr>
              <a:t>Analyse der Entstehung von Kaffeebohnenpreisen und Kaufkraftzuwächse könnten mehr Informationen beschaffen</a:t>
            </a:r>
          </a:p>
        </p:txBody>
      </p:sp>
    </p:spTree>
    <p:extLst>
      <p:ext uri="{BB962C8B-B14F-4D97-AF65-F5344CB8AC3E}">
        <p14:creationId xmlns:p14="http://schemas.microsoft.com/office/powerpoint/2010/main" val="1024436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F1A98AC-D0A9-A88D-62C1-6DA073CD7C42}"/>
              </a:ext>
            </a:extLst>
          </p:cNvPr>
          <p:cNvSpPr/>
          <p:nvPr/>
        </p:nvSpPr>
        <p:spPr>
          <a:xfrm>
            <a:off x="48992" y="1954964"/>
            <a:ext cx="1209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Vielen Dank für die Aufmerksamkeit!.</a:t>
            </a:r>
          </a:p>
        </p:txBody>
      </p:sp>
      <p:sp>
        <p:nvSpPr>
          <p:cNvPr id="5" name="Smiley 4">
            <a:extLst>
              <a:ext uri="{FF2B5EF4-FFF2-40B4-BE49-F238E27FC236}">
                <a16:creationId xmlns:a16="http://schemas.microsoft.com/office/drawing/2014/main" id="{CFB1D3AA-C2B1-CAF9-0F3C-D773B161F2B2}"/>
              </a:ext>
            </a:extLst>
          </p:cNvPr>
          <p:cNvSpPr/>
          <p:nvPr/>
        </p:nvSpPr>
        <p:spPr>
          <a:xfrm>
            <a:off x="4498521" y="3200400"/>
            <a:ext cx="3194957" cy="2852058"/>
          </a:xfrm>
          <a:prstGeom prst="smileyFace">
            <a:avLst/>
          </a:prstGeom>
          <a:solidFill>
            <a:srgbClr val="D4A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0908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Breitbild</PresentationFormat>
  <Paragraphs>207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Abadi</vt:lpstr>
      <vt:lpstr>Aptos</vt:lpstr>
      <vt:lpstr>Arial</vt:lpstr>
      <vt:lpstr>Wingdings</vt:lpstr>
      <vt:lpstr>Office</vt:lpstr>
      <vt:lpstr>Schätzung der Schokoladenpreise</vt:lpstr>
      <vt:lpstr>Agenda</vt:lpstr>
      <vt:lpstr>Aufgabenstellung</vt:lpstr>
      <vt:lpstr>Datenbasis</vt:lpstr>
      <vt:lpstr>PowerPoint-Präsentation</vt:lpstr>
      <vt:lpstr>Modelle</vt:lpstr>
      <vt:lpstr>2019-01-31 bis 2021-04-31</vt:lpstr>
      <vt:lpstr>2024-08-31 bis 2024-10-31</vt:lpstr>
      <vt:lpstr>2025-08-31 bis 2025-11-30</vt:lpstr>
      <vt:lpstr>Empfehlung</vt:lpstr>
      <vt:lpstr>Fazit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Salima Abdalla</dc:creator>
  <cp:lastModifiedBy>Salima Abdalla</cp:lastModifiedBy>
  <cp:revision>6</cp:revision>
  <dcterms:created xsi:type="dcterms:W3CDTF">2026-02-12T12:25:04Z</dcterms:created>
  <dcterms:modified xsi:type="dcterms:W3CDTF">2026-02-12T14:36:22Z</dcterms:modified>
</cp:coreProperties>
</file>